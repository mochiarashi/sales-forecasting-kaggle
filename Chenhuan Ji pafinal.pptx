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7" r:id="rId1"/>
  </p:sldMasterIdLst>
  <p:notesMasterIdLst>
    <p:notesMasterId r:id="rId3"/>
  </p:notesMasterIdLst>
  <p:sldIdLst>
    <p:sldId id="258" r:id="rId2"/>
  </p:sldIdLst>
  <p:sldSz cx="51206400" cy="2880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072" userDrawn="1">
          <p15:clr>
            <a:srgbClr val="A4A3A4"/>
          </p15:clr>
        </p15:guide>
        <p15:guide id="2" pos="16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9BA99"/>
    <a:srgbClr val="B29D6C"/>
    <a:srgbClr val="8A100B"/>
    <a:srgbClr val="000000"/>
    <a:srgbClr val="B4985A"/>
    <a:srgbClr val="501214"/>
    <a:srgbClr val="501215"/>
    <a:srgbClr val="5771A1"/>
    <a:srgbClr val="DE62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94662"/>
  </p:normalViewPr>
  <p:slideViewPr>
    <p:cSldViewPr snapToObjects="1">
      <p:cViewPr>
        <p:scale>
          <a:sx n="75" d="100"/>
          <a:sy n="75" d="100"/>
        </p:scale>
        <p:origin x="54" y="-2274"/>
      </p:cViewPr>
      <p:guideLst>
        <p:guide orient="horz" pos="9072"/>
        <p:guide pos="1612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D4C8FC-43D2-43AA-9FC7-93AC3AA112B8}"/>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653D158-04C7-4F51-8F58-A8F8732A1212}"/>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9DC66F12-D11B-4BF0-9670-452786151E72}" type="datetime1">
              <a:rPr lang="en-US" altLang="en-US"/>
              <a:pPr/>
              <a:t>5/7/2025</a:t>
            </a:fld>
            <a:endParaRPr lang="en-US" altLang="en-US" dirty="0"/>
          </a:p>
        </p:txBody>
      </p:sp>
      <p:sp>
        <p:nvSpPr>
          <p:cNvPr id="4" name="Slide Image Placeholder 3">
            <a:extLst>
              <a:ext uri="{FF2B5EF4-FFF2-40B4-BE49-F238E27FC236}">
                <a16:creationId xmlns:a16="http://schemas.microsoft.com/office/drawing/2014/main" id="{1B3ECC2F-C60F-4767-AC61-675C4606C00D}"/>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a:extLst>
              <a:ext uri="{FF2B5EF4-FFF2-40B4-BE49-F238E27FC236}">
                <a16:creationId xmlns:a16="http://schemas.microsoft.com/office/drawing/2014/main" id="{BC053EC8-AE79-444C-9E66-ECF0544C2FAE}"/>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0695EE1-2153-454C-B45B-D1A57DC5097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9B89F892-6854-471C-9A8C-4023EB74FD3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56C9C308-0827-4B11-AC4F-D86C3DFBCF32}"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pitchFamily="-108"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a:extLst>
              <a:ext uri="{FF2B5EF4-FFF2-40B4-BE49-F238E27FC236}">
                <a16:creationId xmlns:a16="http://schemas.microsoft.com/office/drawing/2014/main" id="{2F41A137-A93A-4ABD-BDE5-A15520AFCC90}"/>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Notes Placeholder 2">
            <a:extLst>
              <a:ext uri="{FF2B5EF4-FFF2-40B4-BE49-F238E27FC236}">
                <a16:creationId xmlns:a16="http://schemas.microsoft.com/office/drawing/2014/main" id="{8FB3FC4D-ED6F-44B9-91F2-FE74678F8C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4339" name="Slide Number Placeholder 3">
            <a:extLst>
              <a:ext uri="{FF2B5EF4-FFF2-40B4-BE49-F238E27FC236}">
                <a16:creationId xmlns:a16="http://schemas.microsoft.com/office/drawing/2014/main" id="{66FB80BD-B532-4FBB-9A98-155EEB8B5A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fld id="{1324F038-C72C-43BB-B72C-630EE2C7ED60}" type="slidenum">
              <a:rPr lang="en-US" altLang="en-US" sz="1200">
                <a:latin typeface="Calibri" panose="020F0502020204030204" pitchFamily="34" charset="0"/>
              </a:rPr>
              <a:pPr eaLnBrk="1" hangingPunct="1"/>
              <a:t>1</a:t>
            </a:fld>
            <a:endParaRPr lang="en-US" alt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1384629" y="-249379"/>
            <a:ext cx="52566574" cy="29079952"/>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7011033" y="4983231"/>
            <a:ext cx="37163049" cy="18807319"/>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7388793" y="8717119"/>
            <a:ext cx="36455643" cy="7344662"/>
          </a:xfrm>
        </p:spPr>
        <p:txBody>
          <a:bodyPr bIns="0" anchor="b">
            <a:normAutofit/>
          </a:bodyPr>
          <a:lstStyle>
            <a:lvl1pPr algn="ctr">
              <a:lnSpc>
                <a:spcPct val="80000"/>
              </a:lnSpc>
              <a:defRPr sz="22680" spc="-63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7388798" y="16406320"/>
            <a:ext cx="36428393" cy="5554865"/>
          </a:xfrm>
        </p:spPr>
        <p:txBody>
          <a:bodyPr tIns="0">
            <a:normAutofit/>
          </a:bodyPr>
          <a:lstStyle>
            <a:lvl1pPr marL="0" indent="0" algn="ctr">
              <a:lnSpc>
                <a:spcPct val="100000"/>
              </a:lnSpc>
              <a:buNone/>
              <a:defRPr sz="7560" b="0">
                <a:solidFill>
                  <a:srgbClr val="FFFEFF"/>
                </a:solidFill>
              </a:defRPr>
            </a:lvl1pPr>
            <a:lvl2pPr marL="1920240" indent="0" algn="ctr">
              <a:buNone/>
              <a:defRPr sz="756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a:xfrm>
            <a:off x="3379622" y="1344168"/>
            <a:ext cx="15361920" cy="1344168"/>
          </a:xfrm>
        </p:spPr>
        <p:txBody>
          <a:bodyPr vert="horz" lIns="91440" tIns="45720" rIns="91440" bIns="45720" rtlCol="0" anchor="ctr"/>
          <a:lstStyle>
            <a:lvl1pPr>
              <a:defRPr lang="en-US"/>
            </a:lvl1pPr>
          </a:lstStyle>
          <a:p>
            <a:fld id="{48A87A34-81AB-432B-8DAE-1953F412C126}" type="datetimeFigureOut">
              <a:rPr lang="en-US" dirty="0"/>
              <a:pPr/>
              <a:t>5/7/2025</a:t>
            </a:fld>
            <a:endParaRPr lang="en-US" dirty="0"/>
          </a:p>
        </p:txBody>
      </p:sp>
      <p:sp>
        <p:nvSpPr>
          <p:cNvPr id="5" name="Footer Placeholder 4"/>
          <p:cNvSpPr>
            <a:spLocks noGrp="1"/>
          </p:cNvSpPr>
          <p:nvPr>
            <p:ph type="ftr" sz="quarter" idx="11"/>
          </p:nvPr>
        </p:nvSpPr>
        <p:spPr>
          <a:xfrm>
            <a:off x="3379623" y="26153669"/>
            <a:ext cx="44472758" cy="1344168"/>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43973496" y="1344168"/>
            <a:ext cx="3840480" cy="1344168"/>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7661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1753555" y="0"/>
            <a:ext cx="52853279" cy="28783600"/>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3360605" y="7138276"/>
            <a:ext cx="15432799" cy="14575768"/>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2252" y="9869685"/>
            <a:ext cx="14695712" cy="10317056"/>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21497479" y="3373381"/>
            <a:ext cx="26383867" cy="22044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A7572E-03D9-46EE-98F2-4BDFFCFC50C4}" type="datetime1">
              <a:rPr lang="en-US" altLang="en-US" smtClean="0"/>
              <a:pPr/>
              <a:t>5/7/2025</a:t>
            </a:fld>
            <a:endParaRPr lang="en-US" alt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3FC3A974-0CA2-4C46-8D24-9009E30A9D0D}" type="slidenum">
              <a:rPr lang="en-US" altLang="en-US" smtClean="0"/>
              <a:pPr/>
              <a:t>‹#›</a:t>
            </a:fld>
            <a:endParaRPr lang="en-US" altLang="en-US" dirty="0"/>
          </a:p>
        </p:txBody>
      </p:sp>
    </p:spTree>
    <p:extLst>
      <p:ext uri="{BB962C8B-B14F-4D97-AF65-F5344CB8AC3E}">
        <p14:creationId xmlns:p14="http://schemas.microsoft.com/office/powerpoint/2010/main" val="2554094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1384629" y="-249379"/>
            <a:ext cx="52566574" cy="29079952"/>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3690091" y="4983231"/>
            <a:ext cx="23797809" cy="18807319"/>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14045707" y="8713866"/>
            <a:ext cx="23058941" cy="7095438"/>
          </a:xfrm>
        </p:spPr>
        <p:txBody>
          <a:bodyPr bIns="0" anchor="b">
            <a:normAutofit/>
          </a:bodyPr>
          <a:lstStyle>
            <a:lvl1pPr algn="ctr">
              <a:defRPr sz="1848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14045705" y="16156774"/>
            <a:ext cx="23058937" cy="5811834"/>
          </a:xfrm>
        </p:spPr>
        <p:txBody>
          <a:bodyPr tIns="0">
            <a:normAutofit/>
          </a:bodyPr>
          <a:lstStyle>
            <a:lvl1pPr marL="0" indent="0" algn="ctr">
              <a:buNone/>
              <a:defRPr sz="7560">
                <a:solidFill>
                  <a:srgbClr val="FFFEFF"/>
                </a:solidFill>
              </a:defRPr>
            </a:lvl1pPr>
            <a:lvl2pPr marL="1920240" indent="0">
              <a:buNone/>
              <a:defRPr sz="756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379622" y="1344168"/>
            <a:ext cx="15361920" cy="1344168"/>
          </a:xfrm>
        </p:spPr>
        <p:txBody>
          <a:bodyPr/>
          <a:lstStyle/>
          <a:p>
            <a:fld id="{B9931E8E-0902-47BC-B2C7-10F8DFAFF5FC}" type="datetime1">
              <a:rPr lang="en-US" altLang="en-US" smtClean="0"/>
              <a:pPr/>
              <a:t>5/7/2025</a:t>
            </a:fld>
            <a:endParaRPr lang="en-US" altLang="en-US" dirty="0"/>
          </a:p>
        </p:txBody>
      </p:sp>
      <p:sp>
        <p:nvSpPr>
          <p:cNvPr id="5" name="Footer Placeholder 4"/>
          <p:cNvSpPr>
            <a:spLocks noGrp="1"/>
          </p:cNvSpPr>
          <p:nvPr>
            <p:ph type="ftr" sz="quarter" idx="11"/>
          </p:nvPr>
        </p:nvSpPr>
        <p:spPr>
          <a:xfrm>
            <a:off x="3379623" y="26153669"/>
            <a:ext cx="44472758" cy="1344168"/>
          </a:xfrm>
        </p:spPr>
        <p:txBody>
          <a:bodyPr/>
          <a:lstStyle>
            <a:lvl1pPr algn="ctr">
              <a:defRPr/>
            </a:lvl1pPr>
          </a:lstStyle>
          <a:p>
            <a:pPr>
              <a:defRPr/>
            </a:pPr>
            <a:endParaRPr lang="en-US" dirty="0"/>
          </a:p>
        </p:txBody>
      </p:sp>
      <p:sp>
        <p:nvSpPr>
          <p:cNvPr id="6" name="Slide Number Placeholder 5"/>
          <p:cNvSpPr>
            <a:spLocks noGrp="1"/>
          </p:cNvSpPr>
          <p:nvPr>
            <p:ph type="sldNum" sz="quarter" idx="12"/>
          </p:nvPr>
        </p:nvSpPr>
        <p:spPr>
          <a:xfrm>
            <a:off x="43973496" y="1344168"/>
            <a:ext cx="3840480" cy="1344168"/>
          </a:xfrm>
        </p:spPr>
        <p:txBody>
          <a:bodyPr/>
          <a:lstStyle/>
          <a:p>
            <a:fld id="{5E95B217-6184-4FC9-A02A-11608A7FA6D9}" type="slidenum">
              <a:rPr lang="en-US" altLang="en-US" smtClean="0"/>
              <a:pPr/>
              <a:t>‹#›</a:t>
            </a:fld>
            <a:endParaRPr lang="en-US" altLang="en-US" dirty="0"/>
          </a:p>
        </p:txBody>
      </p:sp>
    </p:spTree>
    <p:extLst>
      <p:ext uri="{BB962C8B-B14F-4D97-AF65-F5344CB8AC3E}">
        <p14:creationId xmlns:p14="http://schemas.microsoft.com/office/powerpoint/2010/main" val="2462952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1753555" y="0"/>
            <a:ext cx="52853279" cy="28783600"/>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3360605" y="7138276"/>
            <a:ext cx="15432799" cy="14575768"/>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3800" y="9826612"/>
            <a:ext cx="14703478" cy="10374273"/>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21507690" y="3373388"/>
            <a:ext cx="26332282" cy="100071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497478" y="15423081"/>
            <a:ext cx="26342492" cy="100110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379622" y="1344168"/>
            <a:ext cx="15361920" cy="1344168"/>
          </a:xfrm>
        </p:spPr>
        <p:txBody>
          <a:bodyPr/>
          <a:lstStyle/>
          <a:p>
            <a:fld id="{547D0C35-806F-40FA-BD43-750ADD1A6019}" type="datetime1">
              <a:rPr lang="en-US" altLang="en-US" smtClean="0"/>
              <a:pPr/>
              <a:t>5/7/2025</a:t>
            </a:fld>
            <a:endParaRPr lang="en-US" altLang="en-US" dirty="0"/>
          </a:p>
        </p:txBody>
      </p:sp>
      <p:sp>
        <p:nvSpPr>
          <p:cNvPr id="6" name="Footer Placeholder 5"/>
          <p:cNvSpPr>
            <a:spLocks noGrp="1"/>
          </p:cNvSpPr>
          <p:nvPr>
            <p:ph type="ftr" sz="quarter" idx="11"/>
          </p:nvPr>
        </p:nvSpPr>
        <p:spPr>
          <a:xfrm>
            <a:off x="3379623" y="26153669"/>
            <a:ext cx="44472758" cy="1344168"/>
          </a:xfrm>
        </p:spPr>
        <p:txBody>
          <a:bodyPr/>
          <a:lstStyle/>
          <a:p>
            <a:pPr>
              <a:defRPr/>
            </a:pPr>
            <a:endParaRPr lang="en-US" dirty="0"/>
          </a:p>
        </p:txBody>
      </p:sp>
      <p:sp>
        <p:nvSpPr>
          <p:cNvPr id="7" name="Slide Number Placeholder 6"/>
          <p:cNvSpPr>
            <a:spLocks noGrp="1"/>
          </p:cNvSpPr>
          <p:nvPr>
            <p:ph type="sldNum" sz="quarter" idx="12"/>
          </p:nvPr>
        </p:nvSpPr>
        <p:spPr>
          <a:xfrm>
            <a:off x="43973496" y="1344168"/>
            <a:ext cx="3840480" cy="1344168"/>
          </a:xfrm>
        </p:spPr>
        <p:txBody>
          <a:bodyPr/>
          <a:lstStyle/>
          <a:p>
            <a:fld id="{364D2114-6B91-42CA-A934-97F4E0DCC06B}" type="slidenum">
              <a:rPr lang="en-US" altLang="en-US" smtClean="0"/>
              <a:pPr/>
              <a:t>‹#›</a:t>
            </a:fld>
            <a:endParaRPr lang="en-US" altLang="en-US" dirty="0"/>
          </a:p>
        </p:txBody>
      </p:sp>
    </p:spTree>
    <p:extLst>
      <p:ext uri="{BB962C8B-B14F-4D97-AF65-F5344CB8AC3E}">
        <p14:creationId xmlns:p14="http://schemas.microsoft.com/office/powerpoint/2010/main" val="185348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1753555" y="0"/>
            <a:ext cx="52853279" cy="28783600"/>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3360605" y="7138276"/>
            <a:ext cx="15432799" cy="14575768"/>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3804" y="9928445"/>
            <a:ext cx="14703478" cy="1033408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21525575" y="3373377"/>
            <a:ext cx="26313370" cy="2880360"/>
          </a:xfrm>
        </p:spPr>
        <p:txBody>
          <a:bodyPr anchor="ctr">
            <a:noAutofit/>
          </a:bodyPr>
          <a:lstStyle>
            <a:lvl1pPr marL="0" indent="0" algn="l">
              <a:lnSpc>
                <a:spcPct val="100000"/>
              </a:lnSpc>
              <a:buNone/>
              <a:defRPr sz="9240" b="0" cap="all" baseline="0">
                <a:solidFill>
                  <a:schemeClr val="accent1"/>
                </a:solidFill>
              </a:defRPr>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1526281" y="6253739"/>
            <a:ext cx="26310270" cy="71267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498343" y="15396725"/>
            <a:ext cx="26310539" cy="2880360"/>
          </a:xfrm>
        </p:spPr>
        <p:txBody>
          <a:bodyPr anchor="ctr">
            <a:noAutofit/>
          </a:bodyPr>
          <a:lstStyle>
            <a:lvl1pPr marL="0" indent="0" algn="l">
              <a:lnSpc>
                <a:spcPct val="100000"/>
              </a:lnSpc>
              <a:buNone/>
              <a:defRPr sz="9240" b="0" cap="all" baseline="0">
                <a:solidFill>
                  <a:schemeClr val="accent1"/>
                </a:solidFill>
              </a:defRPr>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21497477" y="18277085"/>
            <a:ext cx="26315470" cy="71570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379622" y="1344168"/>
            <a:ext cx="15361920" cy="1344168"/>
          </a:xfrm>
        </p:spPr>
        <p:txBody>
          <a:bodyPr/>
          <a:lstStyle/>
          <a:p>
            <a:fld id="{C48F0DEC-832E-4151-AA48-C3B96F75B9F0}" type="datetime1">
              <a:rPr lang="en-US" altLang="en-US" smtClean="0"/>
              <a:pPr/>
              <a:t>5/7/2025</a:t>
            </a:fld>
            <a:endParaRPr lang="en-US" altLang="en-US" dirty="0"/>
          </a:p>
        </p:txBody>
      </p:sp>
      <p:sp>
        <p:nvSpPr>
          <p:cNvPr id="8" name="Footer Placeholder 7"/>
          <p:cNvSpPr>
            <a:spLocks noGrp="1"/>
          </p:cNvSpPr>
          <p:nvPr>
            <p:ph type="ftr" sz="quarter" idx="11"/>
          </p:nvPr>
        </p:nvSpPr>
        <p:spPr>
          <a:xfrm>
            <a:off x="3379623" y="26153669"/>
            <a:ext cx="44472758" cy="1344168"/>
          </a:xfrm>
        </p:spPr>
        <p:txBody>
          <a:bodyPr/>
          <a:lstStyle/>
          <a:p>
            <a:pPr>
              <a:defRPr/>
            </a:pPr>
            <a:endParaRPr lang="en-US" dirty="0"/>
          </a:p>
        </p:txBody>
      </p:sp>
      <p:sp>
        <p:nvSpPr>
          <p:cNvPr id="9" name="Slide Number Placeholder 8"/>
          <p:cNvSpPr>
            <a:spLocks noGrp="1"/>
          </p:cNvSpPr>
          <p:nvPr>
            <p:ph type="sldNum" sz="quarter" idx="12"/>
          </p:nvPr>
        </p:nvSpPr>
        <p:spPr>
          <a:xfrm>
            <a:off x="43973496" y="1344168"/>
            <a:ext cx="3840480" cy="1344168"/>
          </a:xfrm>
        </p:spPr>
        <p:txBody>
          <a:bodyPr/>
          <a:lstStyle/>
          <a:p>
            <a:fld id="{AC1B494A-07B3-45CC-A686-DC655C8779B0}" type="slidenum">
              <a:rPr lang="en-US" altLang="en-US" smtClean="0"/>
              <a:pPr/>
              <a:t>‹#›</a:t>
            </a:fld>
            <a:endParaRPr lang="en-US" altLang="en-US" dirty="0"/>
          </a:p>
        </p:txBody>
      </p:sp>
    </p:spTree>
    <p:extLst>
      <p:ext uri="{BB962C8B-B14F-4D97-AF65-F5344CB8AC3E}">
        <p14:creationId xmlns:p14="http://schemas.microsoft.com/office/powerpoint/2010/main" val="559873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1753555" y="0"/>
            <a:ext cx="52853279" cy="28783600"/>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3360605" y="7138276"/>
            <a:ext cx="15432799" cy="14575768"/>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2255" y="9869685"/>
            <a:ext cx="14705023" cy="10317056"/>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399053-E54D-476E-8743-2CDC10BAE5D7}" type="datetime1">
              <a:rPr lang="en-US" altLang="en-US" smtClean="0"/>
              <a:pPr/>
              <a:t>5/7/2025</a:t>
            </a:fld>
            <a:endParaRPr lang="en-US" alt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fld id="{6193C5D7-0F05-4CD7-9CF1-4A5233A21FE7}" type="slidenum">
              <a:rPr lang="en-US" altLang="en-US" smtClean="0"/>
              <a:pPr/>
              <a:t>‹#›</a:t>
            </a:fld>
            <a:endParaRPr lang="en-US" altLang="en-US" dirty="0"/>
          </a:p>
        </p:txBody>
      </p:sp>
    </p:spTree>
    <p:extLst>
      <p:ext uri="{BB962C8B-B14F-4D97-AF65-F5344CB8AC3E}">
        <p14:creationId xmlns:p14="http://schemas.microsoft.com/office/powerpoint/2010/main" val="2989057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379622" y="1344168"/>
            <a:ext cx="15361920" cy="1344168"/>
          </a:xfrm>
        </p:spPr>
        <p:txBody>
          <a:bodyPr/>
          <a:lstStyle/>
          <a:p>
            <a:fld id="{A5E08242-E237-4B55-8679-30FB906C8E92}" type="datetime1">
              <a:rPr lang="en-US" altLang="en-US" smtClean="0"/>
              <a:pPr/>
              <a:t>5/7/2025</a:t>
            </a:fld>
            <a:endParaRPr lang="en-US" altLang="en-US" dirty="0"/>
          </a:p>
        </p:txBody>
      </p:sp>
      <p:sp>
        <p:nvSpPr>
          <p:cNvPr id="3" name="Footer Placeholder 2"/>
          <p:cNvSpPr>
            <a:spLocks noGrp="1"/>
          </p:cNvSpPr>
          <p:nvPr>
            <p:ph type="ftr" sz="quarter" idx="11"/>
          </p:nvPr>
        </p:nvSpPr>
        <p:spPr>
          <a:xfrm>
            <a:off x="3379623" y="26153669"/>
            <a:ext cx="44472758" cy="1344168"/>
          </a:xfrm>
        </p:spPr>
        <p:txBody>
          <a:bodyPr/>
          <a:lstStyle/>
          <a:p>
            <a:pPr>
              <a:defRPr/>
            </a:pPr>
            <a:endParaRPr lang="en-US" dirty="0"/>
          </a:p>
        </p:txBody>
      </p:sp>
      <p:sp>
        <p:nvSpPr>
          <p:cNvPr id="4" name="Slide Number Placeholder 3"/>
          <p:cNvSpPr>
            <a:spLocks noGrp="1"/>
          </p:cNvSpPr>
          <p:nvPr>
            <p:ph type="sldNum" sz="quarter" idx="12"/>
          </p:nvPr>
        </p:nvSpPr>
        <p:spPr>
          <a:xfrm>
            <a:off x="43973496" y="1344168"/>
            <a:ext cx="3840480" cy="1344168"/>
          </a:xfrm>
        </p:spPr>
        <p:txBody>
          <a:bodyPr/>
          <a:lstStyle/>
          <a:p>
            <a:fld id="{D28A6007-D00C-42DD-9A97-DE27E9899814}" type="slidenum">
              <a:rPr lang="en-US" altLang="en-US" smtClean="0"/>
              <a:pPr/>
              <a:t>‹#›</a:t>
            </a:fld>
            <a:endParaRPr lang="en-US" altLang="en-US" dirty="0"/>
          </a:p>
        </p:txBody>
      </p:sp>
    </p:spTree>
    <p:extLst>
      <p:ext uri="{BB962C8B-B14F-4D97-AF65-F5344CB8AC3E}">
        <p14:creationId xmlns:p14="http://schemas.microsoft.com/office/powerpoint/2010/main" val="191655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1753555" y="0"/>
            <a:ext cx="52853279" cy="28783600"/>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3360605" y="7138276"/>
            <a:ext cx="15432799" cy="14575768"/>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2253" y="9878509"/>
            <a:ext cx="14705027" cy="5137852"/>
          </a:xfrm>
        </p:spPr>
        <p:txBody>
          <a:bodyPr bIns="0" anchor="b">
            <a:noAutofit/>
          </a:bodyPr>
          <a:lstStyle>
            <a:lvl1pPr algn="ctr">
              <a:defRPr sz="1344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21461931" y="3371798"/>
            <a:ext cx="26355147" cy="2204974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732253" y="15036781"/>
            <a:ext cx="14705027" cy="5128889"/>
          </a:xfrm>
        </p:spPr>
        <p:txBody>
          <a:bodyPr/>
          <a:lstStyle>
            <a:lvl1pPr marL="0" indent="0" algn="ctr">
              <a:buNone/>
              <a:defRPr sz="6720">
                <a:solidFill>
                  <a:srgbClr val="FFFEFF"/>
                </a:solidFill>
              </a:defRPr>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CD6384DC-1099-49CE-9202-91DEEED38AD3}" type="datetime1">
              <a:rPr lang="en-US" altLang="en-US" smtClean="0"/>
              <a:pPr/>
              <a:t>5/7/2025</a:t>
            </a:fld>
            <a:endParaRPr lang="en-US" alt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fld id="{C31BB335-155C-4AD5-AB18-89FB246CE4F0}" type="slidenum">
              <a:rPr lang="en-US" altLang="en-US" smtClean="0"/>
              <a:pPr/>
              <a:t>‹#›</a:t>
            </a:fld>
            <a:endParaRPr lang="en-US" altLang="en-US" dirty="0"/>
          </a:p>
        </p:txBody>
      </p:sp>
    </p:spTree>
    <p:extLst>
      <p:ext uri="{BB962C8B-B14F-4D97-AF65-F5344CB8AC3E}">
        <p14:creationId xmlns:p14="http://schemas.microsoft.com/office/powerpoint/2010/main" val="1279861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1384629" y="-249379"/>
            <a:ext cx="52566574" cy="29079952"/>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3382411" y="7132992"/>
            <a:ext cx="24954468" cy="14575768"/>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31682742" y="0"/>
            <a:ext cx="19523658" cy="28803600"/>
          </a:xfrm>
          <a:solidFill>
            <a:schemeClr val="bg1">
              <a:lumMod val="65000"/>
              <a:lumOff val="35000"/>
            </a:schemeClr>
          </a:solidFill>
          <a:ln w="9525" cap="sq">
            <a:noFill/>
            <a:miter lim="800000"/>
          </a:ln>
          <a:effectLst/>
        </p:spPr>
        <p:txBody>
          <a:bodyPr anchor="t"/>
          <a:lstStyle>
            <a:lvl1pPr marL="0" indent="0" algn="ctr">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2" name="Title 1"/>
          <p:cNvSpPr>
            <a:spLocks noGrp="1"/>
          </p:cNvSpPr>
          <p:nvPr>
            <p:ph type="title"/>
          </p:nvPr>
        </p:nvSpPr>
        <p:spPr>
          <a:xfrm>
            <a:off x="3718861" y="9913071"/>
            <a:ext cx="24261913" cy="4947734"/>
          </a:xfrm>
        </p:spPr>
        <p:txBody>
          <a:bodyPr bIns="0" anchor="b">
            <a:normAutofit/>
          </a:bodyPr>
          <a:lstStyle>
            <a:lvl1pPr>
              <a:defRPr sz="1512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3718861" y="14889050"/>
            <a:ext cx="24261913" cy="5351632"/>
          </a:xfrm>
        </p:spPr>
        <p:txBody>
          <a:bodyPr>
            <a:normAutofit/>
          </a:bodyPr>
          <a:lstStyle>
            <a:lvl1pPr marL="0" indent="0" algn="ctr">
              <a:buNone/>
              <a:defRPr sz="7560">
                <a:solidFill>
                  <a:srgbClr val="FFFEFF"/>
                </a:solidFill>
              </a:defRPr>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a:xfrm>
            <a:off x="3379622" y="1344168"/>
            <a:ext cx="15361920" cy="1344168"/>
          </a:xfrm>
        </p:spPr>
        <p:txBody>
          <a:bodyPr/>
          <a:lstStyle/>
          <a:p>
            <a:fld id="{E03EC425-23A8-400B-93EA-799E29BD31E7}" type="datetime1">
              <a:rPr lang="en-US" altLang="en-US" smtClean="0"/>
              <a:pPr/>
              <a:t>5/7/2025</a:t>
            </a:fld>
            <a:endParaRPr lang="en-US" altLang="en-US" dirty="0"/>
          </a:p>
        </p:txBody>
      </p:sp>
      <p:sp>
        <p:nvSpPr>
          <p:cNvPr id="6" name="Footer Placeholder 5"/>
          <p:cNvSpPr>
            <a:spLocks noGrp="1"/>
          </p:cNvSpPr>
          <p:nvPr>
            <p:ph type="ftr" sz="quarter" idx="11"/>
          </p:nvPr>
        </p:nvSpPr>
        <p:spPr>
          <a:xfrm>
            <a:off x="3379624" y="26153669"/>
            <a:ext cx="24957253" cy="1344168"/>
          </a:xfrm>
        </p:spPr>
        <p:txBody>
          <a:bodyPr/>
          <a:lstStyle/>
          <a:p>
            <a:pPr>
              <a:defRPr/>
            </a:pPr>
            <a:endParaRPr lang="en-US" dirty="0"/>
          </a:p>
        </p:txBody>
      </p:sp>
      <p:sp>
        <p:nvSpPr>
          <p:cNvPr id="7" name="Slide Number Placeholder 6"/>
          <p:cNvSpPr>
            <a:spLocks noGrp="1"/>
          </p:cNvSpPr>
          <p:nvPr>
            <p:ph type="sldNum" sz="quarter" idx="12"/>
          </p:nvPr>
        </p:nvSpPr>
        <p:spPr>
          <a:xfrm>
            <a:off x="24479183" y="1344168"/>
            <a:ext cx="3840480" cy="1344168"/>
          </a:xfrm>
        </p:spPr>
        <p:txBody>
          <a:bodyPr/>
          <a:lstStyle/>
          <a:p>
            <a:fld id="{3D164877-6B8A-467F-A2A0-81B411E9B10A}" type="slidenum">
              <a:rPr lang="en-US" altLang="en-US" smtClean="0"/>
              <a:pPr/>
              <a:t>‹#›</a:t>
            </a:fld>
            <a:endParaRPr lang="en-US" altLang="en-US" dirty="0"/>
          </a:p>
        </p:txBody>
      </p:sp>
    </p:spTree>
    <p:extLst>
      <p:ext uri="{BB962C8B-B14F-4D97-AF65-F5344CB8AC3E}">
        <p14:creationId xmlns:p14="http://schemas.microsoft.com/office/powerpoint/2010/main" val="992302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1753555" y="0"/>
            <a:ext cx="52853279" cy="28783600"/>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3360605" y="7138276"/>
            <a:ext cx="15432799" cy="14575768"/>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732255" y="9869687"/>
            <a:ext cx="14705023" cy="10317052"/>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461931" y="3337820"/>
            <a:ext cx="26355147" cy="220797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98DB79-DB1B-464E-8FC8-FB1D980692CC}" type="datetime1">
              <a:rPr lang="en-US" altLang="en-US" smtClean="0"/>
              <a:pPr/>
              <a:t>5/7/2025</a:t>
            </a:fld>
            <a:endParaRPr lang="en-US" alt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F4AC1E25-9FBC-4E23-A8D7-0E732A67497F}" type="slidenum">
              <a:rPr lang="en-US" altLang="en-US" smtClean="0"/>
              <a:pPr/>
              <a:t>‹#›</a:t>
            </a:fld>
            <a:endParaRPr lang="en-US" altLang="en-US" dirty="0"/>
          </a:p>
        </p:txBody>
      </p:sp>
    </p:spTree>
    <p:extLst>
      <p:ext uri="{BB962C8B-B14F-4D97-AF65-F5344CB8AC3E}">
        <p14:creationId xmlns:p14="http://schemas.microsoft.com/office/powerpoint/2010/main" val="457584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52853279" cy="28783600"/>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32419582" y="7138276"/>
            <a:ext cx="15432799" cy="14575768"/>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32791238" y="9869685"/>
            <a:ext cx="14705019" cy="10317056"/>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371538" y="3353467"/>
            <a:ext cx="26328212" cy="220806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9622" y="1344168"/>
            <a:ext cx="15361920" cy="1344168"/>
          </a:xfrm>
        </p:spPr>
        <p:txBody>
          <a:bodyPr/>
          <a:lstStyle/>
          <a:p>
            <a:fld id="{0D2A2D7D-DDEB-4A7F-AC4F-AB0DFEF7BCBE}" type="datetime1">
              <a:rPr lang="en-US" altLang="en-US" smtClean="0"/>
              <a:pPr/>
              <a:t>5/7/2025</a:t>
            </a:fld>
            <a:endParaRPr lang="en-US" altLang="en-US" dirty="0"/>
          </a:p>
        </p:txBody>
      </p:sp>
      <p:sp>
        <p:nvSpPr>
          <p:cNvPr id="5" name="Footer Placeholder 4"/>
          <p:cNvSpPr>
            <a:spLocks noGrp="1"/>
          </p:cNvSpPr>
          <p:nvPr>
            <p:ph type="ftr" sz="quarter" idx="11"/>
          </p:nvPr>
        </p:nvSpPr>
        <p:spPr>
          <a:xfrm>
            <a:off x="3379623" y="26153669"/>
            <a:ext cx="44472758" cy="1344168"/>
          </a:xfrm>
        </p:spPr>
        <p:txBody>
          <a:bodyPr/>
          <a:lstStyle/>
          <a:p>
            <a:pPr>
              <a:defRPr/>
            </a:pPr>
            <a:endParaRPr lang="en-US" dirty="0"/>
          </a:p>
        </p:txBody>
      </p:sp>
      <p:sp>
        <p:nvSpPr>
          <p:cNvPr id="6" name="Slide Number Placeholder 5"/>
          <p:cNvSpPr>
            <a:spLocks noGrp="1"/>
          </p:cNvSpPr>
          <p:nvPr>
            <p:ph type="sldNum" sz="quarter" idx="12"/>
          </p:nvPr>
        </p:nvSpPr>
        <p:spPr>
          <a:xfrm>
            <a:off x="43973496" y="1344168"/>
            <a:ext cx="3840480" cy="1344168"/>
          </a:xfrm>
        </p:spPr>
        <p:txBody>
          <a:bodyPr/>
          <a:lstStyle/>
          <a:p>
            <a:fld id="{432435AC-92DD-4C50-A562-F88AF0CDE718}" type="slidenum">
              <a:rPr lang="en-US" altLang="en-US" smtClean="0"/>
              <a:pPr/>
              <a:t>‹#›</a:t>
            </a:fld>
            <a:endParaRPr lang="en-US" altLang="en-US" dirty="0"/>
          </a:p>
        </p:txBody>
      </p:sp>
    </p:spTree>
    <p:extLst>
      <p:ext uri="{BB962C8B-B14F-4D97-AF65-F5344CB8AC3E}">
        <p14:creationId xmlns:p14="http://schemas.microsoft.com/office/powerpoint/2010/main" val="56799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559579" y="1152922"/>
            <a:ext cx="46087242" cy="4800600"/>
          </a:xfrm>
          <a:prstGeom prst="rect">
            <a:avLst/>
          </a:prstGeom>
        </p:spPr>
        <p:txBody>
          <a:bodyPr vert="horz"/>
          <a:lstStyle/>
          <a:p>
            <a:r>
              <a:rPr lang="en-US"/>
              <a:t>Click to edit Master title style</a:t>
            </a:r>
          </a:p>
        </p:txBody>
      </p:sp>
      <p:sp>
        <p:nvSpPr>
          <p:cNvPr id="6" name="Content Placeholder 5"/>
          <p:cNvSpPr>
            <a:spLocks noGrp="1"/>
          </p:cNvSpPr>
          <p:nvPr>
            <p:ph sz="quarter" idx="10"/>
          </p:nvPr>
        </p:nvSpPr>
        <p:spPr>
          <a:xfrm>
            <a:off x="0" y="0"/>
            <a:ext cx="51206400" cy="28803600"/>
          </a:xfrm>
          <a:prstGeom prst="rect">
            <a:avLst/>
          </a:prstGeo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p:cNvSpPr>
            <a:spLocks noGrp="1"/>
          </p:cNvSpPr>
          <p:nvPr>
            <p:ph sz="quarter" idx="11"/>
          </p:nvPr>
        </p:nvSpPr>
        <p:spPr>
          <a:xfrm>
            <a:off x="0" y="0"/>
            <a:ext cx="51206400" cy="29136975"/>
          </a:xfrm>
          <a:prstGeom prst="rect">
            <a:avLst/>
          </a:prstGeo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909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42879" y="9905244"/>
            <a:ext cx="14694401" cy="10317237"/>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26925" y="3337820"/>
            <a:ext cx="24990151" cy="220797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379622" y="1344168"/>
            <a:ext cx="15361920" cy="1344168"/>
          </a:xfrm>
          <a:prstGeom prst="rect">
            <a:avLst/>
          </a:prstGeom>
        </p:spPr>
        <p:txBody>
          <a:bodyPr vert="horz" lIns="91440" tIns="45720" rIns="91440" bIns="45720" rtlCol="0" anchor="ctr"/>
          <a:lstStyle>
            <a:lvl1pPr algn="l">
              <a:defRPr sz="4200">
                <a:solidFill>
                  <a:schemeClr val="tx1">
                    <a:tint val="75000"/>
                  </a:schemeClr>
                </a:solidFill>
              </a:defRPr>
            </a:lvl1pPr>
          </a:lstStyle>
          <a:p>
            <a:fld id="{48A87A34-81AB-432B-8DAE-1953F412C126}" type="datetimeFigureOut">
              <a:rPr lang="en-US" dirty="0"/>
              <a:pPr/>
              <a:t>5/7/2025</a:t>
            </a:fld>
            <a:endParaRPr lang="en-US" dirty="0"/>
          </a:p>
        </p:txBody>
      </p:sp>
      <p:sp>
        <p:nvSpPr>
          <p:cNvPr id="5" name="Footer Placeholder 4"/>
          <p:cNvSpPr>
            <a:spLocks noGrp="1"/>
          </p:cNvSpPr>
          <p:nvPr>
            <p:ph type="ftr" sz="quarter" idx="3"/>
          </p:nvPr>
        </p:nvSpPr>
        <p:spPr>
          <a:xfrm>
            <a:off x="3379623" y="26153669"/>
            <a:ext cx="44472758" cy="1344168"/>
          </a:xfrm>
          <a:prstGeom prst="rect">
            <a:avLst/>
          </a:prstGeom>
        </p:spPr>
        <p:txBody>
          <a:bodyPr vert="horz" lIns="91440" tIns="45720" rIns="91440" bIns="45720" rtlCol="0" anchor="ctr"/>
          <a:lstStyle>
            <a:lvl1pPr algn="r">
              <a:defRPr sz="4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973496" y="1344168"/>
            <a:ext cx="3840480" cy="1344168"/>
          </a:xfrm>
          <a:prstGeom prst="rect">
            <a:avLst/>
          </a:prstGeom>
        </p:spPr>
        <p:txBody>
          <a:bodyPr vert="horz" lIns="91440" tIns="45720" rIns="91440" bIns="45720" rtlCol="0" anchor="ctr"/>
          <a:lstStyle>
            <a:lvl1pPr algn="r">
              <a:defRPr sz="4200">
                <a:solidFill>
                  <a:schemeClr val="tx1">
                    <a:tint val="75000"/>
                  </a:schemeClr>
                </a:solidFill>
              </a:defRPr>
            </a:lvl1pPr>
          </a:lstStyle>
          <a:p>
            <a:fld id="{6D22F896-40B5-4ADD-8801-0D06FADFA095}" type="slidenum">
              <a:rPr lang="en-US" dirty="0"/>
              <a:pPr/>
              <a:t>‹#›</a:t>
            </a:fld>
            <a:endParaRPr lang="en-US" dirty="0"/>
          </a:p>
        </p:txBody>
      </p:sp>
      <p:pic>
        <p:nvPicPr>
          <p:cNvPr id="7" name="Picture 16">
            <a:extLst>
              <a:ext uri="{FF2B5EF4-FFF2-40B4-BE49-F238E27FC236}">
                <a16:creationId xmlns:a16="http://schemas.microsoft.com/office/drawing/2014/main" id="{BE3E90A3-2A86-43B3-51B3-EF07B6352306}"/>
              </a:ext>
            </a:extLst>
          </p:cNvPr>
          <p:cNvPicPr>
            <a:picLocks noChangeAspect="1" noChangeArrowheads="1"/>
          </p:cNvPicPr>
          <p:nvPr userDrawn="1"/>
        </p:nvPicPr>
        <p:blipFill>
          <a:blip>
            <a:extLst>
              <a:ext uri="{28A0092B-C50C-407E-A947-70E740481C1C}">
                <a14:useLocalDpi xmlns:a14="http://schemas.microsoft.com/office/drawing/2010/main" val="0"/>
              </a:ext>
            </a:extLst>
          </a:blip>
          <a:srcRect l="12852" r="23148" b="35704"/>
          <a:stretch>
            <a:fillRect/>
          </a:stretch>
        </p:blipFill>
        <p:spPr bwMode="auto">
          <a:xfrm>
            <a:off x="0" y="0"/>
            <a:ext cx="51384200" cy="289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271221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76" r:id="rId12"/>
  </p:sldLayoutIdLst>
  <p:txStyles>
    <p:titleStyle>
      <a:lvl1pPr algn="ctr" defTabSz="3840480" rtl="0" eaLnBrk="1" latinLnBrk="0" hangingPunct="1">
        <a:lnSpc>
          <a:spcPct val="85000"/>
        </a:lnSpc>
        <a:spcBef>
          <a:spcPct val="0"/>
        </a:spcBef>
        <a:buNone/>
        <a:defRPr sz="16800" b="0" i="0" kern="1200" cap="none" spc="-630">
          <a:solidFill>
            <a:schemeClr val="tx1"/>
          </a:solidFill>
          <a:effectLst/>
          <a:latin typeface="+mj-lt"/>
          <a:ea typeface="+mj-ea"/>
          <a:cs typeface="+mj-cs"/>
        </a:defRPr>
      </a:lvl1pPr>
    </p:titleStyle>
    <p:bodyStyle>
      <a:lvl1pPr marL="960120" indent="-960120" algn="l" defTabSz="3840480" rtl="0" eaLnBrk="1" latinLnBrk="0" hangingPunct="1">
        <a:lnSpc>
          <a:spcPct val="120000"/>
        </a:lnSpc>
        <a:spcBef>
          <a:spcPts val="4200"/>
        </a:spcBef>
        <a:buClr>
          <a:schemeClr val="accent1"/>
        </a:buClr>
        <a:buSzPct val="110000"/>
        <a:buFont typeface="Wingdings" panose="05000000000000000000" pitchFamily="2" charset="2"/>
        <a:buChar char="§"/>
        <a:defRPr sz="7560" kern="1200">
          <a:solidFill>
            <a:schemeClr val="tx1"/>
          </a:solidFill>
          <a:effectLst/>
          <a:latin typeface="+mn-lt"/>
          <a:ea typeface="+mn-ea"/>
          <a:cs typeface="+mn-cs"/>
        </a:defRPr>
      </a:lvl1pPr>
      <a:lvl2pPr marL="288036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6720" kern="1200">
          <a:solidFill>
            <a:schemeClr val="tx1"/>
          </a:solidFill>
          <a:effectLst/>
          <a:latin typeface="+mn-lt"/>
          <a:ea typeface="+mn-ea"/>
          <a:cs typeface="+mn-cs"/>
        </a:defRPr>
      </a:lvl2pPr>
      <a:lvl3pPr marL="480060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880" kern="1200">
          <a:solidFill>
            <a:schemeClr val="tx1"/>
          </a:solidFill>
          <a:effectLst/>
          <a:latin typeface="+mn-lt"/>
          <a:ea typeface="+mn-ea"/>
          <a:cs typeface="+mn-cs"/>
        </a:defRPr>
      </a:lvl3pPr>
      <a:lvl4pPr marL="672084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4pPr>
      <a:lvl5pPr marL="864108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5pPr>
      <a:lvl6pPr marL="1056132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6pPr>
      <a:lvl7pPr marL="1248156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7pPr>
      <a:lvl8pPr marL="1440180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8pPr>
      <a:lvl9pPr marL="16322040" indent="-960120" algn="l" defTabSz="3840480" rtl="0" eaLnBrk="1" latinLnBrk="0" hangingPunct="1">
        <a:lnSpc>
          <a:spcPct val="120000"/>
        </a:lnSpc>
        <a:spcBef>
          <a:spcPts val="2100"/>
        </a:spcBef>
        <a:buClr>
          <a:schemeClr val="accent1"/>
        </a:buClr>
        <a:buSzPct val="110000"/>
        <a:buFont typeface="Wingdings" panose="05000000000000000000" pitchFamily="2" charset="2"/>
        <a:buChar char="§"/>
        <a:defRPr sz="5040" kern="1200">
          <a:solidFill>
            <a:schemeClr val="tx1"/>
          </a:solidFill>
          <a:effectLst/>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8A100B"/>
        </a:solidFill>
        <a:effectLst/>
      </p:bgPr>
    </p:bg>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1662DFB2-509E-49A5-A33A-3E3DF504E830}"/>
              </a:ext>
            </a:extLst>
          </p:cNvPr>
          <p:cNvSpPr>
            <a:spLocks noChangeArrowheads="1"/>
          </p:cNvSpPr>
          <p:nvPr/>
        </p:nvSpPr>
        <p:spPr bwMode="auto">
          <a:xfrm>
            <a:off x="3048000" y="2136378"/>
            <a:ext cx="36404550" cy="1130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838" tIns="39912" rIns="79838" bIns="39912">
            <a:spAutoFit/>
          </a:bodyPr>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4375" dirty="0">
                <a:solidFill>
                  <a:srgbClr val="FFFFFF"/>
                </a:solidFill>
                <a:latin typeface="Univers LT Std 45 Light" pitchFamily="-84" charset="0"/>
              </a:rPr>
              <a:t>C</a:t>
            </a:r>
            <a:r>
              <a:rPr lang="en-US" altLang="zh-CN" sz="4375" dirty="0">
                <a:solidFill>
                  <a:srgbClr val="FFFFFF"/>
                </a:solidFill>
                <a:latin typeface="Univers LT Std 45 Light" pitchFamily="-84" charset="0"/>
              </a:rPr>
              <a:t>henhuan Ji</a:t>
            </a:r>
            <a:br>
              <a:rPr lang="en-US" altLang="en-US" sz="4200" dirty="0">
                <a:solidFill>
                  <a:srgbClr val="FFFFFF"/>
                </a:solidFill>
                <a:latin typeface="Univers LT Std 45 Light" pitchFamily="-84" charset="0"/>
              </a:rPr>
            </a:br>
            <a:r>
              <a:rPr lang="en-US" altLang="en-US" sz="2450" dirty="0">
                <a:solidFill>
                  <a:srgbClr val="FFFFFF"/>
                </a:solidFill>
                <a:latin typeface="Univers LT Std 45 Light" pitchFamily="-84" charset="0"/>
              </a:rPr>
              <a:t>Department of Applied Analytics, Woods College of Advancing Studies, Boston College</a:t>
            </a:r>
          </a:p>
        </p:txBody>
      </p:sp>
      <p:cxnSp>
        <p:nvCxnSpPr>
          <p:cNvPr id="29" name="Straight Connector 28">
            <a:extLst>
              <a:ext uri="{FF2B5EF4-FFF2-40B4-BE49-F238E27FC236}">
                <a16:creationId xmlns:a16="http://schemas.microsoft.com/office/drawing/2014/main" id="{7CDBAF71-9280-4FE7-896B-81E5F131B960}"/>
              </a:ext>
            </a:extLst>
          </p:cNvPr>
          <p:cNvCxnSpPr>
            <a:cxnSpLocks noChangeShapeType="1"/>
          </p:cNvCxnSpPr>
          <p:nvPr/>
        </p:nvCxnSpPr>
        <p:spPr bwMode="auto">
          <a:xfrm>
            <a:off x="2967037" y="3473544"/>
            <a:ext cx="45877163" cy="0"/>
          </a:xfrm>
          <a:prstGeom prst="line">
            <a:avLst/>
          </a:prstGeom>
          <a:noFill/>
          <a:ln w="76200">
            <a:solidFill>
              <a:schemeClr val="bg1"/>
            </a:solidFill>
            <a:round/>
            <a:headEnd/>
            <a:tailEnd/>
          </a:ln>
          <a:effectLst>
            <a:outerShdw blurRad="40000" dist="23000" dir="5400000" rotWithShape="0">
              <a:srgbClr val="808080">
                <a:alpha val="34999"/>
              </a:srgbClr>
            </a:outerShdw>
          </a:effectLst>
          <a:extLst>
            <a:ext uri="{909E8E84-426E-40DD-AFC4-6F175D3DCCD1}">
              <a14:hiddenFill xmlns:a14="http://schemas.microsoft.com/office/drawing/2010/main">
                <a:noFill/>
              </a14:hiddenFill>
            </a:ext>
          </a:extLst>
        </p:spPr>
      </p:cxnSp>
      <p:sp>
        <p:nvSpPr>
          <p:cNvPr id="13316" name="TextBox 91">
            <a:extLst>
              <a:ext uri="{FF2B5EF4-FFF2-40B4-BE49-F238E27FC236}">
                <a16:creationId xmlns:a16="http://schemas.microsoft.com/office/drawing/2014/main" id="{997F07E8-70CE-418C-AB76-DCC01202B775}"/>
              </a:ext>
            </a:extLst>
          </p:cNvPr>
          <p:cNvSpPr txBox="1">
            <a:spLocks noChangeArrowheads="1"/>
          </p:cNvSpPr>
          <p:nvPr/>
        </p:nvSpPr>
        <p:spPr bwMode="auto">
          <a:xfrm>
            <a:off x="3048000" y="870943"/>
            <a:ext cx="36404550"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r>
              <a:rPr lang="en-US" altLang="en-US" sz="7700" dirty="0">
                <a:solidFill>
                  <a:srgbClr val="B4985A"/>
                </a:solidFill>
                <a:latin typeface="Univers LT Std 75 Black" pitchFamily="-84" charset="0"/>
              </a:rPr>
              <a:t>Predict Future Sales</a:t>
            </a:r>
          </a:p>
        </p:txBody>
      </p:sp>
      <p:sp>
        <p:nvSpPr>
          <p:cNvPr id="13319" name="Rectangle 49">
            <a:extLst>
              <a:ext uri="{FF2B5EF4-FFF2-40B4-BE49-F238E27FC236}">
                <a16:creationId xmlns:a16="http://schemas.microsoft.com/office/drawing/2014/main" id="{3141B0B2-5EA3-4F0B-AB6B-864A7DF3C749}"/>
              </a:ext>
            </a:extLst>
          </p:cNvPr>
          <p:cNvSpPr>
            <a:spLocks noChangeArrowheads="1"/>
          </p:cNvSpPr>
          <p:nvPr/>
        </p:nvSpPr>
        <p:spPr bwMode="auto">
          <a:xfrm>
            <a:off x="2967037" y="4267200"/>
            <a:ext cx="10558265" cy="113537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Abstract</a:t>
            </a:r>
          </a:p>
          <a:p>
            <a:pPr eaLnBrk="1" hangingPunct="1"/>
            <a:r>
              <a:rPr lang="en-US" altLang="en-US" sz="2450" dirty="0">
                <a:latin typeface="Univers LT Std 55" pitchFamily="-84" charset="0"/>
              </a:rPr>
              <a:t> </a:t>
            </a:r>
          </a:p>
          <a:p>
            <a:pPr eaLnBrk="1" hangingPunct="1"/>
            <a:r>
              <a:rPr lang="en-US" altLang="en-US" sz="2450" dirty="0">
                <a:latin typeface="Univers LT Std 55" pitchFamily="-84" charset="0"/>
              </a:rPr>
              <a:t>In this project, I address the challenge of forecasting item-level monthly sales using the Kaggle “Predict Future Sales” dataset. The dataset consists of historical </a:t>
            </a:r>
            <a:r>
              <a:rPr lang="en-US" altLang="en-US" sz="2450">
                <a:latin typeface="Univers LT Std 55" pitchFamily="-84" charset="0"/>
              </a:rPr>
              <a:t>sales data, </a:t>
            </a:r>
            <a:r>
              <a:rPr lang="en-US" altLang="en-US" sz="2450" dirty="0">
                <a:latin typeface="Univers LT Std 55" pitchFamily="-84" charset="0"/>
              </a:rPr>
              <a:t>which I aggregated to a monthly time series format. Given the data’s extreme sparsity and seasonality, I implemented and compared four forecasting models: a classical Exponential Smoothing (ETS) model, a </a:t>
            </a:r>
            <a:r>
              <a:rPr lang="en-US" altLang="en-US" sz="2450" dirty="0" err="1">
                <a:latin typeface="Univers LT Std 55" pitchFamily="-84" charset="0"/>
              </a:rPr>
              <a:t>CatBoost</a:t>
            </a:r>
            <a:r>
              <a:rPr lang="en-US" altLang="en-US" sz="2450" dirty="0">
                <a:latin typeface="Univers LT Std 55" pitchFamily="-84" charset="0"/>
              </a:rPr>
              <a:t> gradient boosting model, a Multi-Layer Perceptron (MLP) neural network, and an ensemble model that combines </a:t>
            </a:r>
            <a:r>
              <a:rPr lang="en-US" altLang="en-US" sz="2450" dirty="0" err="1">
                <a:latin typeface="Univers LT Std 55" pitchFamily="-84" charset="0"/>
              </a:rPr>
              <a:t>CatBoost</a:t>
            </a:r>
            <a:r>
              <a:rPr lang="en-US" altLang="en-US" sz="2450" dirty="0">
                <a:latin typeface="Univers LT Std 55" pitchFamily="-84" charset="0"/>
              </a:rPr>
              <a:t> and MLP predictions. The ETS model served as a baseline, capturing broad seasonal trends but lacking item-level granularity. In contrast, </a:t>
            </a:r>
            <a:r>
              <a:rPr lang="en-US" altLang="en-US" sz="2450" dirty="0" err="1">
                <a:latin typeface="Univers LT Std 55" pitchFamily="-84" charset="0"/>
              </a:rPr>
              <a:t>CatBoost</a:t>
            </a:r>
            <a:r>
              <a:rPr lang="en-US" altLang="en-US" sz="2450" dirty="0">
                <a:latin typeface="Univers LT Std 55" pitchFamily="-84" charset="0"/>
              </a:rPr>
              <a:t> and MLP both performed significantly better on validation data, each excelling under different conditions. Ultimately, the ensemble model achieved the lowest RMSE and MAE, highlighting the advantage of blending machine learning and deep learning approaches. This project demonstrates the value of hybrid modeling in time series forecasting and offers practical strategies for improving prediction accuracy in retail analytics.</a:t>
            </a:r>
          </a:p>
        </p:txBody>
      </p:sp>
      <p:sp>
        <p:nvSpPr>
          <p:cNvPr id="13320" name="Rectangle 50">
            <a:extLst>
              <a:ext uri="{FF2B5EF4-FFF2-40B4-BE49-F238E27FC236}">
                <a16:creationId xmlns:a16="http://schemas.microsoft.com/office/drawing/2014/main" id="{A4092B1A-D254-42CE-927A-E5BFC9B5F452}"/>
              </a:ext>
            </a:extLst>
          </p:cNvPr>
          <p:cNvSpPr>
            <a:spLocks noChangeArrowheads="1"/>
          </p:cNvSpPr>
          <p:nvPr/>
        </p:nvSpPr>
        <p:spPr bwMode="auto">
          <a:xfrm>
            <a:off x="14468475" y="4200525"/>
            <a:ext cx="10734675" cy="23669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marL="381000" indent="-381000"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Methods</a:t>
            </a:r>
            <a:endParaRPr lang="en-US" altLang="en-US" sz="7200" dirty="0"/>
          </a:p>
          <a:p>
            <a:pPr>
              <a:buNone/>
            </a:pPr>
            <a:r>
              <a:rPr lang="en-US" altLang="zh-CN" sz="2450" b="1" dirty="0">
                <a:latin typeface="Univers LT Std 55"/>
              </a:rPr>
              <a:t>Data Preparation</a:t>
            </a:r>
          </a:p>
          <a:p>
            <a:pPr>
              <a:buNone/>
            </a:pPr>
            <a:r>
              <a:rPr lang="en-US" altLang="zh-CN" sz="2450" dirty="0">
                <a:latin typeface="Univers LT Std 55"/>
              </a:rPr>
              <a:t>In this project, I followed a structured methodology that began with careful data preprocessing and proceeded through multiple modeling strategies. The raw dataset consisted of daily sales records for each item-store combination from January 2013 to October 2015. Since the forecasting task is defined at the monthly level, I aggregated the data into monthly item-shop sales. Given the high level of sparsity—many item-shop pairs had no sales in most months—I explicitly filled in all missing combinations with zero to preserve the continuity of the time series.</a:t>
            </a:r>
          </a:p>
          <a:p>
            <a:pPr>
              <a:buNone/>
            </a:pPr>
            <a:r>
              <a:rPr lang="en-US" altLang="zh-CN" sz="2450" dirty="0">
                <a:latin typeface="Univers LT Std 55"/>
              </a:rPr>
              <a:t>To enhance predictive power, I performed extensive feature engineering. This included generating time-based variables such as year, month, day of year, and date block number. I created lag features (sales from one to three months ago) and rolling statistics, including 3- and 6-month rolling averages and max values, to capture momentum and seasonal patterns. Additional context was incorporated by aggregating category-level and total shop/item-level sales. For neural network models, numerical features were standardized to aid convergence, while tree-based models like </a:t>
            </a:r>
            <a:r>
              <a:rPr lang="en-US" altLang="zh-CN" sz="2450" dirty="0" err="1">
                <a:latin typeface="Univers LT Std 55"/>
              </a:rPr>
              <a:t>CatBoost</a:t>
            </a:r>
            <a:r>
              <a:rPr lang="en-US" altLang="zh-CN" sz="2450" dirty="0">
                <a:latin typeface="Univers LT Std 55"/>
              </a:rPr>
              <a:t> used raw values. Categorical variables, including item and shop IDs, were handled natively in </a:t>
            </a:r>
            <a:r>
              <a:rPr lang="en-US" altLang="zh-CN" sz="2450" dirty="0" err="1">
                <a:latin typeface="Univers LT Std 55"/>
              </a:rPr>
              <a:t>CatBoost</a:t>
            </a:r>
            <a:r>
              <a:rPr lang="en-US" altLang="zh-CN" sz="2450" dirty="0">
                <a:latin typeface="Univers LT Std 55"/>
              </a:rPr>
              <a:t> and encoded with one-hot vectors or embeddings in the MLP. I also capped extreme target values at 20, following the Kaggle competition guidelines.</a:t>
            </a:r>
          </a:p>
          <a:p>
            <a:pPr>
              <a:buNone/>
            </a:pPr>
            <a:endParaRPr lang="en-US" altLang="zh-CN" sz="2450" dirty="0">
              <a:latin typeface="Univers LT Std 55"/>
            </a:endParaRPr>
          </a:p>
          <a:p>
            <a:pPr>
              <a:buNone/>
            </a:pPr>
            <a:r>
              <a:rPr lang="en-US" altLang="zh-CN" sz="2450" b="1" dirty="0">
                <a:latin typeface="Univers LT Std 55"/>
              </a:rPr>
              <a:t>Modeling Approaches</a:t>
            </a:r>
            <a:endParaRPr lang="en-US" altLang="zh-CN" sz="2450" dirty="0">
              <a:latin typeface="Univers LT Std 55"/>
            </a:endParaRPr>
          </a:p>
          <a:p>
            <a:pPr>
              <a:buNone/>
            </a:pPr>
            <a:r>
              <a:rPr lang="en-US" altLang="zh-CN" sz="2450" dirty="0">
                <a:latin typeface="Univers LT Std 55"/>
              </a:rPr>
              <a:t>To address the forecasting challenge, I developed and compared four modeling approaches, each representing a different paradigm of time series forecasting:</a:t>
            </a:r>
          </a:p>
          <a:p>
            <a:pPr>
              <a:buNone/>
            </a:pPr>
            <a:endParaRPr lang="en-US" altLang="zh-CN" sz="2450" dirty="0">
              <a:latin typeface="Univers LT Std 55"/>
            </a:endParaRPr>
          </a:p>
          <a:p>
            <a:pPr>
              <a:buNone/>
            </a:pPr>
            <a:r>
              <a:rPr lang="en-US" altLang="zh-CN" sz="2450" b="1" dirty="0">
                <a:latin typeface="Univers LT Std 55"/>
              </a:rPr>
              <a:t>ETS Model</a:t>
            </a:r>
          </a:p>
          <a:p>
            <a:pPr>
              <a:buFont typeface="Arial" panose="020B0604020202020204" pitchFamily="34" charset="0"/>
              <a:buChar char="•"/>
            </a:pPr>
            <a:r>
              <a:rPr lang="en-US" altLang="zh-CN" sz="2450" dirty="0">
                <a:latin typeface="Univers LT Std 55"/>
              </a:rPr>
              <a:t>A classical statistical method used on aggregated total monthly sales. ETS(A,A,A) was used to model level, trend, and seasonality, serving as a baseline.</a:t>
            </a:r>
          </a:p>
          <a:p>
            <a:pPr>
              <a:buFont typeface="Arial" panose="020B0604020202020204" pitchFamily="34" charset="0"/>
              <a:buChar char="•"/>
            </a:pPr>
            <a:endParaRPr lang="en-US" altLang="zh-CN" sz="2450" b="1" dirty="0">
              <a:latin typeface="Univers LT Std 55"/>
            </a:endParaRPr>
          </a:p>
          <a:p>
            <a:pPr marL="0" indent="0"/>
            <a:r>
              <a:rPr lang="en-US" altLang="zh-CN" sz="2450" b="1" dirty="0" err="1">
                <a:latin typeface="Univers LT Std 55"/>
              </a:rPr>
              <a:t>CatBoost</a:t>
            </a:r>
            <a:r>
              <a:rPr lang="en-US" altLang="zh-CN" sz="2450" b="1" dirty="0">
                <a:latin typeface="Univers LT Std 55"/>
              </a:rPr>
              <a:t> Model</a:t>
            </a:r>
          </a:p>
          <a:p>
            <a:pPr>
              <a:buFont typeface="Arial" panose="020B0604020202020204" pitchFamily="34" charset="0"/>
              <a:buChar char="•"/>
            </a:pPr>
            <a:r>
              <a:rPr lang="en-US" altLang="zh-CN" sz="2450" dirty="0">
                <a:latin typeface="Univers LT Std 55"/>
              </a:rPr>
              <a:t>A gradient boosting decision tree model that handles categorical variables natively and performs well on tabular data with complex feature interactions. Features included lag sales, rolling averages, and time-based indicators.</a:t>
            </a:r>
          </a:p>
          <a:p>
            <a:pPr marL="0" indent="0"/>
            <a:endParaRPr lang="en-US" altLang="zh-CN" sz="2450" dirty="0">
              <a:latin typeface="Univers LT Std 55"/>
            </a:endParaRPr>
          </a:p>
          <a:p>
            <a:pPr marL="0" indent="0"/>
            <a:r>
              <a:rPr lang="en-US" altLang="zh-CN" sz="2450" b="1" dirty="0">
                <a:latin typeface="Univers LT Std 55"/>
              </a:rPr>
              <a:t>MLP Model</a:t>
            </a:r>
          </a:p>
          <a:p>
            <a:pPr>
              <a:buFont typeface="Arial" panose="020B0604020202020204" pitchFamily="34" charset="0"/>
              <a:buChar char="•"/>
            </a:pPr>
            <a:r>
              <a:rPr lang="en-US" altLang="zh-CN" sz="2450" dirty="0">
                <a:latin typeface="Univers LT Std 55"/>
              </a:rPr>
              <a:t>A feedforward neural network trained on scaled features. The architecture included two hidden layers (128 and 64 units), dropout for regularization, and early stopping to prevent overfitting.</a:t>
            </a:r>
          </a:p>
          <a:p>
            <a:pPr>
              <a:buFont typeface="Arial" panose="020B0604020202020204" pitchFamily="34" charset="0"/>
              <a:buChar char="•"/>
            </a:pPr>
            <a:endParaRPr lang="en-US" altLang="zh-CN" sz="2450" b="1" dirty="0">
              <a:latin typeface="Univers LT Std 55"/>
            </a:endParaRPr>
          </a:p>
          <a:p>
            <a:pPr marL="0" indent="0"/>
            <a:r>
              <a:rPr lang="en-US" altLang="zh-CN" sz="2450" b="1" dirty="0">
                <a:latin typeface="Univers LT Std 55"/>
              </a:rPr>
              <a:t>Ensemble Model</a:t>
            </a:r>
          </a:p>
          <a:p>
            <a:pPr>
              <a:buFont typeface="Arial" panose="020B0604020202020204" pitchFamily="34" charset="0"/>
              <a:buChar char="•"/>
            </a:pPr>
            <a:r>
              <a:rPr lang="en-US" altLang="zh-CN" sz="2450" dirty="0">
                <a:latin typeface="Univers LT Std 55"/>
              </a:rPr>
              <a:t>A simple hybrid combining </a:t>
            </a:r>
            <a:r>
              <a:rPr lang="en-US" altLang="zh-CN" sz="2450" dirty="0" err="1">
                <a:latin typeface="Univers LT Std 55"/>
              </a:rPr>
              <a:t>CatBoost</a:t>
            </a:r>
            <a:r>
              <a:rPr lang="en-US" altLang="zh-CN" sz="2450" dirty="0">
                <a:latin typeface="Univers LT Std 55"/>
              </a:rPr>
              <a:t> and MLP predictions with equal weights. This approach aimed to capture both non-linear rules (from </a:t>
            </a:r>
            <a:r>
              <a:rPr lang="en-US" altLang="zh-CN" sz="2450" dirty="0" err="1">
                <a:latin typeface="Univers LT Std 55"/>
              </a:rPr>
              <a:t>CatBoost</a:t>
            </a:r>
            <a:r>
              <a:rPr lang="en-US" altLang="zh-CN" sz="2450" dirty="0">
                <a:latin typeface="Univers LT Std 55"/>
              </a:rPr>
              <a:t>) and flexible learning (from MLP).</a:t>
            </a:r>
          </a:p>
          <a:p>
            <a:pPr>
              <a:buNone/>
            </a:pPr>
            <a:endParaRPr lang="en-US" altLang="zh-CN" sz="2450" b="1" dirty="0">
              <a:latin typeface="Univers LT Std 55"/>
            </a:endParaRPr>
          </a:p>
          <a:p>
            <a:pPr marL="0" indent="0"/>
            <a:endParaRPr lang="en-US" altLang="zh-CN" sz="2450" dirty="0">
              <a:latin typeface="Univers LT Std 55"/>
            </a:endParaRPr>
          </a:p>
        </p:txBody>
      </p:sp>
      <p:sp>
        <p:nvSpPr>
          <p:cNvPr id="28" name="Rectangle 27">
            <a:extLst>
              <a:ext uri="{FF2B5EF4-FFF2-40B4-BE49-F238E27FC236}">
                <a16:creationId xmlns:a16="http://schemas.microsoft.com/office/drawing/2014/main" id="{5A687FBA-8C97-43FE-A699-5BF14439E2A2}"/>
              </a:ext>
            </a:extLst>
          </p:cNvPr>
          <p:cNvSpPr>
            <a:spLocks noChangeArrowheads="1"/>
          </p:cNvSpPr>
          <p:nvPr/>
        </p:nvSpPr>
        <p:spPr bwMode="auto">
          <a:xfrm>
            <a:off x="25869900" y="4200525"/>
            <a:ext cx="11187013" cy="236696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Results</a:t>
            </a:r>
          </a:p>
          <a:p>
            <a:pPr eaLnBrk="1" hangingPunct="1"/>
            <a:r>
              <a:rPr lang="en-US" altLang="en-US" sz="2450" dirty="0">
                <a:latin typeface="Univers" panose="020F0502020204030204" pitchFamily="34" charset="0"/>
              </a:rPr>
              <a:t>The evaluation results showed that the ensemble model outperformed all individual models on the validation set. The Exponential Smoothing (ETS) model, used on aggregated total sales, yielded a high RMSE and MAE due to its inability to capture item-level variability. Specifically, ETS produced an RMSE of 6432.19 and MAE of 5310.79, confirming its limitation as a coarse baseline. In contrast, the </a:t>
            </a:r>
            <a:r>
              <a:rPr lang="en-US" altLang="en-US" sz="2450" dirty="0" err="1">
                <a:latin typeface="Univers" panose="020F0502020204030204" pitchFamily="34" charset="0"/>
              </a:rPr>
              <a:t>CatBoost</a:t>
            </a:r>
            <a:r>
              <a:rPr lang="en-US" altLang="en-US" sz="2450" dirty="0">
                <a:latin typeface="Univers" panose="020F0502020204030204" pitchFamily="34" charset="0"/>
              </a:rPr>
              <a:t> model achieved an RMSE of 8.10 and MAE of 1.76, indicating strong accuracy at the item-store-month level, especially in detecting non-zero sales cases. The MLP model performed comparably, with an RMSE of 8.31 and MAE of 1.37. While it slightly underperformed </a:t>
            </a:r>
            <a:r>
              <a:rPr lang="en-US" altLang="en-US" sz="2450" dirty="0" err="1">
                <a:latin typeface="Univers" panose="020F0502020204030204" pitchFamily="34" charset="0"/>
              </a:rPr>
              <a:t>CatBoost</a:t>
            </a:r>
            <a:r>
              <a:rPr lang="en-US" altLang="en-US" sz="2450" dirty="0">
                <a:latin typeface="Univers" panose="020F0502020204030204" pitchFamily="34" charset="0"/>
              </a:rPr>
              <a:t> on RMSE, it achieved lower MAE, suggesting better average closeness to actual sales. Most notably, the ensemble of </a:t>
            </a:r>
            <a:r>
              <a:rPr lang="en-US" altLang="en-US" sz="2450" dirty="0" err="1">
                <a:latin typeface="Univers" panose="020F0502020204030204" pitchFamily="34" charset="0"/>
              </a:rPr>
              <a:t>CatBoost</a:t>
            </a:r>
            <a:r>
              <a:rPr lang="en-US" altLang="en-US" sz="2450" dirty="0">
                <a:latin typeface="Univers" panose="020F0502020204030204" pitchFamily="34" charset="0"/>
              </a:rPr>
              <a:t> and MLP achieved the best overall performance, with an RMSE of 7.90 and MAE of 1.25. This confirms that combining the strengths of both models leads to greater accuracy and error reduction. Visual inspection of residual plots also indicated that the ensemble had lower variance and fewer extreme prediction errors, especially in months with holiday spikes or sudden demand surges.</a:t>
            </a:r>
          </a:p>
        </p:txBody>
      </p:sp>
      <p:sp>
        <p:nvSpPr>
          <p:cNvPr id="13330" name="Rectangle 35">
            <a:extLst>
              <a:ext uri="{FF2B5EF4-FFF2-40B4-BE49-F238E27FC236}">
                <a16:creationId xmlns:a16="http://schemas.microsoft.com/office/drawing/2014/main" id="{650A8E42-5064-4A97-81DD-E1E614FBC2CD}"/>
              </a:ext>
            </a:extLst>
          </p:cNvPr>
          <p:cNvSpPr>
            <a:spLocks noChangeArrowheads="1"/>
          </p:cNvSpPr>
          <p:nvPr/>
        </p:nvSpPr>
        <p:spPr bwMode="auto">
          <a:xfrm>
            <a:off x="38061900" y="17824050"/>
            <a:ext cx="10734675" cy="75254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References</a:t>
            </a:r>
          </a:p>
          <a:p>
            <a:pPr eaLnBrk="1" hangingPunct="1"/>
            <a:r>
              <a:rPr lang="en-US" altLang="en-US" sz="2450" dirty="0">
                <a:latin typeface="Univers LT Std 55" pitchFamily="-84" charset="0"/>
              </a:rPr>
              <a:t>Brownlee, J. (2017). Deep learning for time series forecasting: Predict the future with MLPs, CNNs and LSTMs in Python. Machine Learning Mastery.</a:t>
            </a:r>
          </a:p>
          <a:p>
            <a:pPr eaLnBrk="1" hangingPunct="1"/>
            <a:r>
              <a:rPr lang="en-US" altLang="en-US" sz="2450" dirty="0">
                <a:latin typeface="Univers LT Std 55" pitchFamily="-84" charset="0"/>
              </a:rPr>
              <a:t>Hyndman, R. J., &amp; Athanasopoulos, G. (2018). Forecasting: Principles and practice (2nd ed.). </a:t>
            </a:r>
            <a:r>
              <a:rPr lang="en-US" altLang="en-US" sz="2450" dirty="0" err="1">
                <a:latin typeface="Univers LT Std 55" pitchFamily="-84" charset="0"/>
              </a:rPr>
              <a:t>OTexts</a:t>
            </a:r>
            <a:r>
              <a:rPr lang="en-US" altLang="en-US" sz="2450" dirty="0">
                <a:latin typeface="Univers LT Std 55" pitchFamily="-84" charset="0"/>
              </a:rPr>
              <a:t>.</a:t>
            </a:r>
          </a:p>
          <a:p>
            <a:pPr eaLnBrk="1" hangingPunct="1"/>
            <a:r>
              <a:rPr lang="en-US" altLang="en-US" sz="2450" dirty="0">
                <a:latin typeface="Univers LT Std 55" pitchFamily="-84" charset="0"/>
              </a:rPr>
              <a:t>Lim, B., &amp; </a:t>
            </a:r>
            <a:r>
              <a:rPr lang="en-US" altLang="en-US" sz="2450" dirty="0" err="1">
                <a:latin typeface="Univers LT Std 55" pitchFamily="-84" charset="0"/>
              </a:rPr>
              <a:t>Zohren</a:t>
            </a:r>
            <a:r>
              <a:rPr lang="en-US" altLang="en-US" sz="2450" dirty="0">
                <a:latin typeface="Univers LT Std 55" pitchFamily="-84" charset="0"/>
              </a:rPr>
              <a:t>, S. (2021). Time-series forecasting with deep learning: A survey. Philosophical Transactions of the Royal Society A: Mathematical, Physical and Engineering Sciences, 379(2194), 20200209.</a:t>
            </a:r>
          </a:p>
          <a:p>
            <a:pPr eaLnBrk="1" hangingPunct="1"/>
            <a:r>
              <a:rPr lang="en-US" altLang="en-US" sz="2450" dirty="0" err="1">
                <a:latin typeface="Univers LT Std 55" pitchFamily="-84" charset="0"/>
              </a:rPr>
              <a:t>Makridakis</a:t>
            </a:r>
            <a:r>
              <a:rPr lang="en-US" altLang="en-US" sz="2450" dirty="0">
                <a:latin typeface="Univers LT Std 55" pitchFamily="-84" charset="0"/>
              </a:rPr>
              <a:t>, S., Spiliotis, E., &amp; </a:t>
            </a:r>
            <a:r>
              <a:rPr lang="en-US" altLang="en-US" sz="2450" dirty="0" err="1">
                <a:latin typeface="Univers LT Std 55" pitchFamily="-84" charset="0"/>
              </a:rPr>
              <a:t>Assimakopoulos</a:t>
            </a:r>
            <a:r>
              <a:rPr lang="en-US" altLang="en-US" sz="2450" dirty="0">
                <a:latin typeface="Univers LT Std 55" pitchFamily="-84" charset="0"/>
              </a:rPr>
              <a:t>, V. (2018). Statistical and machine learning forecasting methods: Concerns and ways forward. PLOS ONE, 13(3), e0194889. https://doi.org/10.1371/journal.pone.0194889</a:t>
            </a:r>
          </a:p>
          <a:p>
            <a:pPr eaLnBrk="1" hangingPunct="1"/>
            <a:r>
              <a:rPr lang="en-US" altLang="en-US" sz="2450" dirty="0" err="1">
                <a:latin typeface="Univers LT Std 55" pitchFamily="-84" charset="0"/>
              </a:rPr>
              <a:t>Prokhorenkova</a:t>
            </a:r>
            <a:r>
              <a:rPr lang="en-US" altLang="en-US" sz="2450" dirty="0">
                <a:latin typeface="Univers LT Std 55" pitchFamily="-84" charset="0"/>
              </a:rPr>
              <a:t>, L., Gusev, G., Vorobev, A., Dorogush, A. V., &amp; Gulin, A. (2018). </a:t>
            </a:r>
            <a:r>
              <a:rPr lang="en-US" altLang="en-US" sz="2450" dirty="0" err="1">
                <a:latin typeface="Univers LT Std 55" pitchFamily="-84" charset="0"/>
              </a:rPr>
              <a:t>CatBoost</a:t>
            </a:r>
            <a:r>
              <a:rPr lang="en-US" altLang="en-US" sz="2450" dirty="0">
                <a:latin typeface="Univers LT Std 55" pitchFamily="-84" charset="0"/>
              </a:rPr>
              <a:t>: Unbiased boosting with categorical features. Advances in Neural Information Processing Systems, 31.</a:t>
            </a:r>
          </a:p>
          <a:p>
            <a:pPr eaLnBrk="1" hangingPunct="1"/>
            <a:r>
              <a:rPr lang="en-US" altLang="en-US" sz="2450" dirty="0">
                <a:latin typeface="Univers LT Std 55" pitchFamily="-84" charset="0"/>
              </a:rPr>
              <a:t>Smyl, S. (2020). A hybrid method of exponential smoothing and recurrent neural networks for time series forecasting. International Journal of Forecasting, 36(1), 75–85.</a:t>
            </a:r>
          </a:p>
          <a:p>
            <a:pPr eaLnBrk="1" hangingPunct="1"/>
            <a:endParaRPr lang="en-US" altLang="en-US" sz="2450" dirty="0">
              <a:latin typeface="Univers LT Std 55" pitchFamily="-84" charset="0"/>
            </a:endParaRPr>
          </a:p>
          <a:p>
            <a:pPr eaLnBrk="1" hangingPunct="1"/>
            <a:endParaRPr lang="en-US" altLang="en-US" sz="2450" dirty="0">
              <a:latin typeface="Univers LT Std 55" pitchFamily="-84" charset="0"/>
            </a:endParaRPr>
          </a:p>
        </p:txBody>
      </p:sp>
      <p:sp>
        <p:nvSpPr>
          <p:cNvPr id="13331" name="Rectangle 34">
            <a:extLst>
              <a:ext uri="{FF2B5EF4-FFF2-40B4-BE49-F238E27FC236}">
                <a16:creationId xmlns:a16="http://schemas.microsoft.com/office/drawing/2014/main" id="{BFB0C77A-E777-4591-A0A2-F552321A8EE5}"/>
              </a:ext>
            </a:extLst>
          </p:cNvPr>
          <p:cNvSpPr>
            <a:spLocks noChangeArrowheads="1"/>
          </p:cNvSpPr>
          <p:nvPr/>
        </p:nvSpPr>
        <p:spPr bwMode="auto">
          <a:xfrm>
            <a:off x="38039488" y="12344401"/>
            <a:ext cx="10734675" cy="48767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Conclusion</a:t>
            </a:r>
          </a:p>
          <a:p>
            <a:pPr eaLnBrk="1" hangingPunct="1"/>
            <a:r>
              <a:rPr lang="en-US" altLang="en-US" sz="2450" dirty="0">
                <a:latin typeface="Univers LT Std 55" pitchFamily="-84" charset="0"/>
              </a:rPr>
              <a:t>In conclusion, the ensemble of </a:t>
            </a:r>
            <a:r>
              <a:rPr lang="en-US" altLang="en-US" sz="2450" dirty="0" err="1">
                <a:latin typeface="Univers LT Std 55" pitchFamily="-84" charset="0"/>
              </a:rPr>
              <a:t>CatBoost</a:t>
            </a:r>
            <a:r>
              <a:rPr lang="en-US" altLang="en-US" sz="2450" dirty="0">
                <a:latin typeface="Univers LT Std 55" pitchFamily="-84" charset="0"/>
              </a:rPr>
              <a:t> and MLP achieved the best accuracy among all models tested. While ETS helped capture general seasonality, it lacked detail. The hybrid approach showed that blending structured learning and flexible modeling can produce better, more reliable forecasts. This method is practical for retail use and forms a strong foundation for future improvements, such as adding external features or using deeper architectures.</a:t>
            </a:r>
          </a:p>
        </p:txBody>
      </p:sp>
      <p:sp>
        <p:nvSpPr>
          <p:cNvPr id="13332" name="Rectangle 52">
            <a:extLst>
              <a:ext uri="{FF2B5EF4-FFF2-40B4-BE49-F238E27FC236}">
                <a16:creationId xmlns:a16="http://schemas.microsoft.com/office/drawing/2014/main" id="{FD3DC64C-E4CE-4795-ACAD-25B9B24B3EB9}"/>
              </a:ext>
            </a:extLst>
          </p:cNvPr>
          <p:cNvSpPr>
            <a:spLocks noChangeArrowheads="1"/>
          </p:cNvSpPr>
          <p:nvPr/>
        </p:nvSpPr>
        <p:spPr bwMode="auto">
          <a:xfrm>
            <a:off x="38061900" y="4200525"/>
            <a:ext cx="10782300" cy="78320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3500" dirty="0">
                <a:latin typeface="Univers LT Std 75 Black" pitchFamily="-84" charset="0"/>
              </a:rPr>
              <a:t>Discussion</a:t>
            </a:r>
          </a:p>
          <a:p>
            <a:pPr eaLnBrk="1" hangingPunct="1">
              <a:spcBef>
                <a:spcPct val="50000"/>
              </a:spcBef>
            </a:pPr>
            <a:r>
              <a:rPr lang="en-US" altLang="en-US" sz="2450" dirty="0">
                <a:latin typeface="Univers LT Std 75 Black" pitchFamily="-84" charset="0"/>
              </a:rPr>
              <a:t>This project demonstrates the benefit of combining models from different paradigms to tackle complex time series forecasting tasks. The </a:t>
            </a:r>
            <a:r>
              <a:rPr lang="en-US" altLang="en-US" sz="2450" dirty="0" err="1">
                <a:latin typeface="Univers LT Std 75 Black" pitchFamily="-84" charset="0"/>
              </a:rPr>
              <a:t>CatBoost</a:t>
            </a:r>
            <a:r>
              <a:rPr lang="en-US" altLang="en-US" sz="2450" dirty="0">
                <a:latin typeface="Univers LT Std 75 Black" pitchFamily="-84" charset="0"/>
              </a:rPr>
              <a:t> model proved effective in capturing structured feature interactions and handling sparse, tabular retail data. Meanwhile, the MLP model contributed smoother predictions by modeling implicit relationships and reducing sharp spikes in error. Their ensemble achieved the lowest error metrics, highlighting that their strengths are complementary. From a technical perspective, careful feature engineering (lags, rolling stats, categorical encodings) and validation design (holdout split, early stopping) were critical to model performance. From a business standpoint, the ensemble model offers actionable insights for inventory planning, identifying product-seasonality patterns, and improving restocking decisions. Limitations include residual overfitting risks in the neural model and challenges in forecasting rare demand spikes. Future improvements could involve adding external factors (holidays, promotions), exploring more advanced models like Temporal Fusion Transformers, or expanding ensemble diversity. Overall, the combination of interpretable machine learning and flexible deep learning provides a robust foundation for real-world retail forecasting.</a:t>
            </a:r>
            <a:endParaRPr lang="en-US" altLang="en-US" sz="2450" dirty="0"/>
          </a:p>
        </p:txBody>
      </p:sp>
      <p:sp>
        <p:nvSpPr>
          <p:cNvPr id="13334" name="Rectangle 33">
            <a:extLst>
              <a:ext uri="{FF2B5EF4-FFF2-40B4-BE49-F238E27FC236}">
                <a16:creationId xmlns:a16="http://schemas.microsoft.com/office/drawing/2014/main" id="{46B70F7A-751B-4360-9AE3-A112421B6405}"/>
              </a:ext>
            </a:extLst>
          </p:cNvPr>
          <p:cNvSpPr>
            <a:spLocks noChangeArrowheads="1"/>
          </p:cNvSpPr>
          <p:nvPr/>
        </p:nvSpPr>
        <p:spPr bwMode="auto">
          <a:xfrm>
            <a:off x="2928837" y="16230600"/>
            <a:ext cx="10634663" cy="119062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15000" tIns="315000" rIns="315000" bIns="315000"/>
          <a:lstStyle>
            <a:lvl1pPr eaLnBrk="0" hangingPunct="0">
              <a:defRPr sz="8600">
                <a:solidFill>
                  <a:schemeClr val="tx1"/>
                </a:solidFill>
                <a:latin typeface="Arial" panose="020B0604020202020204" pitchFamily="34" charset="0"/>
                <a:ea typeface="MS PGothic" panose="020B0600070205080204" pitchFamily="34" charset="-128"/>
              </a:defRPr>
            </a:lvl1pPr>
            <a:lvl2pPr marL="742950" indent="-285750" eaLnBrk="0" hangingPunct="0">
              <a:defRPr sz="8600">
                <a:solidFill>
                  <a:schemeClr val="tx1"/>
                </a:solidFill>
                <a:latin typeface="Arial" panose="020B0604020202020204" pitchFamily="34" charset="0"/>
                <a:ea typeface="MS PGothic" panose="020B0600070205080204" pitchFamily="34" charset="-128"/>
              </a:defRPr>
            </a:lvl2pPr>
            <a:lvl3pPr marL="1143000" indent="-228600" eaLnBrk="0" hangingPunct="0">
              <a:defRPr sz="8600">
                <a:solidFill>
                  <a:schemeClr val="tx1"/>
                </a:solidFill>
                <a:latin typeface="Arial" panose="020B0604020202020204" pitchFamily="34" charset="0"/>
                <a:ea typeface="MS PGothic" panose="020B0600070205080204" pitchFamily="34" charset="-128"/>
              </a:defRPr>
            </a:lvl3pPr>
            <a:lvl4pPr marL="1600200" indent="-228600" eaLnBrk="0" hangingPunct="0">
              <a:defRPr sz="8600">
                <a:solidFill>
                  <a:schemeClr val="tx1"/>
                </a:solidFill>
                <a:latin typeface="Arial" panose="020B0604020202020204" pitchFamily="34" charset="0"/>
                <a:ea typeface="MS PGothic" panose="020B0600070205080204" pitchFamily="34" charset="-128"/>
              </a:defRPr>
            </a:lvl4pPr>
            <a:lvl5pPr marL="2057400" indent="-228600" eaLnBrk="0" hangingPunct="0">
              <a:defRPr sz="8600">
                <a:solidFill>
                  <a:schemeClr val="tx1"/>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500" dirty="0">
                <a:solidFill>
                  <a:srgbClr val="501214"/>
                </a:solidFill>
                <a:latin typeface="Univers LT Std 75 Black" pitchFamily="-84" charset="0"/>
              </a:rPr>
              <a:t>Introduction &amp; Significance</a:t>
            </a:r>
          </a:p>
          <a:p>
            <a:pPr eaLnBrk="1" hangingPunct="1"/>
            <a:r>
              <a:rPr lang="en-US" altLang="en-US" sz="2450" dirty="0"/>
              <a:t> </a:t>
            </a:r>
          </a:p>
          <a:p>
            <a:pPr eaLnBrk="1" hangingPunct="1"/>
            <a:r>
              <a:rPr lang="en-US" altLang="en-US" sz="2450" dirty="0">
                <a:latin typeface="Univers LT Std 75 Black" pitchFamily="-84" charset="0"/>
              </a:rPr>
              <a:t>Accurate forecasting is essential for decision-making in modern retail, where inventory planning, staffing, and promotional strategies all depend on reliable demand predictions. This project explores the “Predict Future Sales” Kaggle dataset, which presents a real-world challenge: forecasting the next month’s sales for every item in every store, based on over two years of historical sales data. The forecasting task is particularly complex due to high data sparsity—most item-store pairs have zero sales in many months—and irregular seasonality patterns. Through this project, I aim to investigate how classical statistical models, machine learning algorithms, and deep learning architectures perform on this task, and whether a hybrid ensemble approach can improve forecast accuracy. The significance lies not only in improving predictive performance but also in providing practical business insights that can optimize retail operations and reduce costs.</a:t>
            </a:r>
            <a:endParaRPr lang="en-AU" altLang="en-US" sz="2450" dirty="0"/>
          </a:p>
        </p:txBody>
      </p:sp>
      <p:pic>
        <p:nvPicPr>
          <p:cNvPr id="3" name="Google Shape;126;p16">
            <a:extLst>
              <a:ext uri="{FF2B5EF4-FFF2-40B4-BE49-F238E27FC236}">
                <a16:creationId xmlns:a16="http://schemas.microsoft.com/office/drawing/2014/main" id="{1C26A6E3-FF83-E6F0-FBE2-05DC6421449E}"/>
              </a:ext>
            </a:extLst>
          </p:cNvPr>
          <p:cNvPicPr preferRelativeResize="0"/>
          <p:nvPr/>
        </p:nvPicPr>
        <p:blipFill>
          <a:blip r:embed="rId3">
            <a:alphaModFix/>
          </a:blip>
          <a:stretch>
            <a:fillRect/>
          </a:stretch>
        </p:blipFill>
        <p:spPr>
          <a:xfrm>
            <a:off x="39090600" y="25661337"/>
            <a:ext cx="8274289" cy="1306126"/>
          </a:xfrm>
          <a:prstGeom prst="rect">
            <a:avLst/>
          </a:prstGeom>
          <a:noFill/>
          <a:ln>
            <a:noFill/>
          </a:ln>
        </p:spPr>
      </p:pic>
      <p:sp>
        <p:nvSpPr>
          <p:cNvPr id="5" name="文本框 4">
            <a:extLst>
              <a:ext uri="{FF2B5EF4-FFF2-40B4-BE49-F238E27FC236}">
                <a16:creationId xmlns:a16="http://schemas.microsoft.com/office/drawing/2014/main" id="{2EAFB3FB-6025-2823-199C-7407D5CBFA1A}"/>
              </a:ext>
            </a:extLst>
          </p:cNvPr>
          <p:cNvSpPr txBox="1"/>
          <p:nvPr/>
        </p:nvSpPr>
        <p:spPr>
          <a:xfrm>
            <a:off x="27072426" y="17824050"/>
            <a:ext cx="3239293" cy="954107"/>
          </a:xfrm>
          <a:prstGeom prst="rect">
            <a:avLst/>
          </a:prstGeom>
          <a:noFill/>
        </p:spPr>
        <p:txBody>
          <a:bodyPr wrap="square" rtlCol="0">
            <a:spAutoFit/>
          </a:bodyPr>
          <a:lstStyle/>
          <a:p>
            <a:r>
              <a:rPr lang="en-US" altLang="zh-CN" sz="2800" b="0" i="0" dirty="0">
                <a:effectLst/>
                <a:highlight>
                  <a:srgbClr val="FFFFFF"/>
                </a:highlight>
                <a:latin typeface="Univers LT Std 55"/>
              </a:rPr>
              <a:t> </a:t>
            </a:r>
            <a:r>
              <a:rPr lang="en-US" altLang="zh-CN" sz="2800" dirty="0" err="1">
                <a:highlight>
                  <a:srgbClr val="FFFFFF"/>
                </a:highlight>
                <a:latin typeface="Univers LT Std 55"/>
              </a:rPr>
              <a:t>Cat</a:t>
            </a:r>
            <a:r>
              <a:rPr lang="en-US" altLang="zh-CN" sz="2800" b="0" i="0" dirty="0" err="1">
                <a:effectLst/>
                <a:highlight>
                  <a:srgbClr val="FFFFFF"/>
                </a:highlight>
                <a:latin typeface="Univers LT Std 55"/>
              </a:rPr>
              <a:t>Boost</a:t>
            </a:r>
            <a:r>
              <a:rPr lang="en-US" altLang="zh-CN" sz="2800" b="0" i="0" dirty="0">
                <a:effectLst/>
                <a:highlight>
                  <a:srgbClr val="FFFFFF"/>
                </a:highlight>
                <a:latin typeface="Univers LT Std 55"/>
              </a:rPr>
              <a:t> Model Predictions</a:t>
            </a:r>
            <a:endParaRPr lang="zh-CN" altLang="en-US" sz="2800" dirty="0">
              <a:highlight>
                <a:srgbClr val="FFFFFF"/>
              </a:highlight>
              <a:latin typeface="Univers LT Std 55"/>
            </a:endParaRPr>
          </a:p>
        </p:txBody>
      </p:sp>
      <p:sp>
        <p:nvSpPr>
          <p:cNvPr id="6" name="文本框 5">
            <a:extLst>
              <a:ext uri="{FF2B5EF4-FFF2-40B4-BE49-F238E27FC236}">
                <a16:creationId xmlns:a16="http://schemas.microsoft.com/office/drawing/2014/main" id="{583AC7DB-09F0-6BD4-8EBB-42FC4849295E}"/>
              </a:ext>
            </a:extLst>
          </p:cNvPr>
          <p:cNvSpPr txBox="1"/>
          <p:nvPr/>
        </p:nvSpPr>
        <p:spPr>
          <a:xfrm>
            <a:off x="31962801" y="14140190"/>
            <a:ext cx="3378883" cy="523220"/>
          </a:xfrm>
          <a:prstGeom prst="rect">
            <a:avLst/>
          </a:prstGeom>
          <a:noFill/>
        </p:spPr>
        <p:txBody>
          <a:bodyPr wrap="square" rtlCol="0">
            <a:spAutoFit/>
          </a:bodyPr>
          <a:lstStyle/>
          <a:p>
            <a:r>
              <a:rPr lang="en-US" altLang="zh-CN" sz="2800" dirty="0">
                <a:highlight>
                  <a:srgbClr val="FFFFFF"/>
                </a:highlight>
                <a:latin typeface="Univers LT Std 55"/>
              </a:rPr>
              <a:t>ETS </a:t>
            </a:r>
            <a:r>
              <a:rPr lang="en-US" altLang="zh-CN" sz="2800" b="0" i="0" dirty="0">
                <a:effectLst/>
                <a:highlight>
                  <a:srgbClr val="FFFFFF"/>
                </a:highlight>
                <a:latin typeface="Univers LT Std 55"/>
              </a:rPr>
              <a:t>Model</a:t>
            </a:r>
          </a:p>
        </p:txBody>
      </p:sp>
      <p:sp>
        <p:nvSpPr>
          <p:cNvPr id="12" name="文本框 11">
            <a:extLst>
              <a:ext uri="{FF2B5EF4-FFF2-40B4-BE49-F238E27FC236}">
                <a16:creationId xmlns:a16="http://schemas.microsoft.com/office/drawing/2014/main" id="{0B084A2D-BB2F-311A-4309-C5D2AB42F57E}"/>
              </a:ext>
            </a:extLst>
          </p:cNvPr>
          <p:cNvSpPr txBox="1"/>
          <p:nvPr/>
        </p:nvSpPr>
        <p:spPr>
          <a:xfrm>
            <a:off x="31832570" y="20984690"/>
            <a:ext cx="3639343" cy="954107"/>
          </a:xfrm>
          <a:prstGeom prst="rect">
            <a:avLst/>
          </a:prstGeom>
          <a:noFill/>
        </p:spPr>
        <p:txBody>
          <a:bodyPr wrap="square" rtlCol="0">
            <a:spAutoFit/>
          </a:bodyPr>
          <a:lstStyle/>
          <a:p>
            <a:r>
              <a:rPr lang="it-IT" altLang="zh-CN" sz="2800" b="0" i="0" dirty="0">
                <a:effectLst/>
                <a:highlight>
                  <a:srgbClr val="FFFFFF"/>
                </a:highlight>
                <a:latin typeface="Univers LT Std 55"/>
              </a:rPr>
              <a:t>C</a:t>
            </a:r>
            <a:r>
              <a:rPr lang="en-US" altLang="zh-CN" sz="2800" b="0" i="0" dirty="0" err="1">
                <a:effectLst/>
                <a:highlight>
                  <a:srgbClr val="FFFFFF"/>
                </a:highlight>
                <a:latin typeface="Univers LT Std 55"/>
              </a:rPr>
              <a:t>atboost</a:t>
            </a:r>
            <a:r>
              <a:rPr lang="it-IT" altLang="zh-CN" sz="2800" b="0" i="0" dirty="0">
                <a:effectLst/>
                <a:highlight>
                  <a:srgbClr val="FFFFFF"/>
                </a:highlight>
                <a:latin typeface="Univers LT Std 55"/>
              </a:rPr>
              <a:t> F</a:t>
            </a:r>
            <a:r>
              <a:rPr lang="en-US" altLang="zh-CN" sz="2800" b="0" i="0" dirty="0" err="1">
                <a:effectLst/>
                <a:highlight>
                  <a:srgbClr val="FFFFFF"/>
                </a:highlight>
                <a:latin typeface="Univers LT Std 55"/>
              </a:rPr>
              <a:t>eature</a:t>
            </a:r>
            <a:r>
              <a:rPr lang="en-US" altLang="zh-CN" sz="2800" b="0" i="0" dirty="0">
                <a:effectLst/>
                <a:highlight>
                  <a:srgbClr val="FFFFFF"/>
                </a:highlight>
                <a:latin typeface="Univers LT Std 55"/>
              </a:rPr>
              <a:t> Importance</a:t>
            </a:r>
            <a:endParaRPr lang="it-IT" altLang="zh-CN" sz="2800" b="0" i="0" dirty="0">
              <a:effectLst/>
              <a:highlight>
                <a:srgbClr val="FFFFFF"/>
              </a:highlight>
              <a:latin typeface="Univers LT Std 55"/>
            </a:endParaRPr>
          </a:p>
        </p:txBody>
      </p:sp>
      <p:sp>
        <p:nvSpPr>
          <p:cNvPr id="25" name="文本框 24">
            <a:extLst>
              <a:ext uri="{FF2B5EF4-FFF2-40B4-BE49-F238E27FC236}">
                <a16:creationId xmlns:a16="http://schemas.microsoft.com/office/drawing/2014/main" id="{8C00AD81-283E-9259-94F8-421B0608E40B}"/>
              </a:ext>
            </a:extLst>
          </p:cNvPr>
          <p:cNvSpPr txBox="1"/>
          <p:nvPr/>
        </p:nvSpPr>
        <p:spPr>
          <a:xfrm>
            <a:off x="27214155" y="24872461"/>
            <a:ext cx="3639343" cy="954107"/>
          </a:xfrm>
          <a:prstGeom prst="rect">
            <a:avLst/>
          </a:prstGeom>
          <a:noFill/>
        </p:spPr>
        <p:txBody>
          <a:bodyPr wrap="square" rtlCol="0">
            <a:spAutoFit/>
          </a:bodyPr>
          <a:lstStyle/>
          <a:p>
            <a:r>
              <a:rPr lang="it-IT" altLang="zh-CN" sz="2800" b="0" i="0" dirty="0">
                <a:effectLst/>
                <a:highlight>
                  <a:srgbClr val="FFFFFF"/>
                </a:highlight>
                <a:latin typeface="Univers LT Std 55"/>
              </a:rPr>
              <a:t>Combined Ensemble Model</a:t>
            </a:r>
          </a:p>
        </p:txBody>
      </p:sp>
      <p:pic>
        <p:nvPicPr>
          <p:cNvPr id="4" name="图片 3" descr="图表, 折线图&#10;&#10;AI 生成的内容可能不正确。">
            <a:extLst>
              <a:ext uri="{FF2B5EF4-FFF2-40B4-BE49-F238E27FC236}">
                <a16:creationId xmlns:a16="http://schemas.microsoft.com/office/drawing/2014/main" id="{AA5B034B-3B8D-FF1A-205D-CFEB3E0A61D4}"/>
              </a:ext>
            </a:extLst>
          </p:cNvPr>
          <p:cNvPicPr>
            <a:picLocks noChangeAspect="1"/>
          </p:cNvPicPr>
          <p:nvPr/>
        </p:nvPicPr>
        <p:blipFill>
          <a:blip r:embed="rId4"/>
          <a:stretch>
            <a:fillRect/>
          </a:stretch>
        </p:blipFill>
        <p:spPr>
          <a:xfrm>
            <a:off x="26089574" y="13208024"/>
            <a:ext cx="5653553" cy="2987428"/>
          </a:xfrm>
          <a:prstGeom prst="rect">
            <a:avLst/>
          </a:prstGeom>
        </p:spPr>
      </p:pic>
      <p:pic>
        <p:nvPicPr>
          <p:cNvPr id="8" name="图片 7" descr="图形用户界面, 图表, 直方图&#10;&#10;AI 生成的内容可能不正确。">
            <a:extLst>
              <a:ext uri="{FF2B5EF4-FFF2-40B4-BE49-F238E27FC236}">
                <a16:creationId xmlns:a16="http://schemas.microsoft.com/office/drawing/2014/main" id="{B8733B9E-2980-3325-B9CD-1ED8CA6567FE}"/>
              </a:ext>
            </a:extLst>
          </p:cNvPr>
          <p:cNvPicPr>
            <a:picLocks noChangeAspect="1"/>
          </p:cNvPicPr>
          <p:nvPr/>
        </p:nvPicPr>
        <p:blipFill>
          <a:blip r:embed="rId5"/>
          <a:stretch>
            <a:fillRect/>
          </a:stretch>
        </p:blipFill>
        <p:spPr>
          <a:xfrm>
            <a:off x="31137338" y="23451183"/>
            <a:ext cx="5762126" cy="3058750"/>
          </a:xfrm>
          <a:prstGeom prst="rect">
            <a:avLst/>
          </a:prstGeom>
        </p:spPr>
      </p:pic>
      <p:pic>
        <p:nvPicPr>
          <p:cNvPr id="10" name="图片 9" descr="图表, 折线图, 散点图&#10;&#10;AI 生成的内容可能不正确。">
            <a:extLst>
              <a:ext uri="{FF2B5EF4-FFF2-40B4-BE49-F238E27FC236}">
                <a16:creationId xmlns:a16="http://schemas.microsoft.com/office/drawing/2014/main" id="{CFB9E587-8AAC-753B-6B3E-93FCCD606E40}"/>
              </a:ext>
            </a:extLst>
          </p:cNvPr>
          <p:cNvPicPr>
            <a:picLocks noChangeAspect="1"/>
          </p:cNvPicPr>
          <p:nvPr/>
        </p:nvPicPr>
        <p:blipFill>
          <a:blip r:embed="rId6"/>
          <a:stretch>
            <a:fillRect/>
          </a:stretch>
        </p:blipFill>
        <p:spPr>
          <a:xfrm>
            <a:off x="30753861" y="16691736"/>
            <a:ext cx="5896769" cy="2787848"/>
          </a:xfrm>
          <a:prstGeom prst="rect">
            <a:avLst/>
          </a:prstGeom>
        </p:spPr>
      </p:pic>
      <p:pic>
        <p:nvPicPr>
          <p:cNvPr id="13" name="图片 12" descr="图表, 条形图&#10;&#10;AI 生成的内容可能不正确。">
            <a:extLst>
              <a:ext uri="{FF2B5EF4-FFF2-40B4-BE49-F238E27FC236}">
                <a16:creationId xmlns:a16="http://schemas.microsoft.com/office/drawing/2014/main" id="{AE2C90E4-3661-0F7D-4174-8BEE27DB698D}"/>
              </a:ext>
            </a:extLst>
          </p:cNvPr>
          <p:cNvPicPr>
            <a:picLocks noChangeAspect="1"/>
          </p:cNvPicPr>
          <p:nvPr/>
        </p:nvPicPr>
        <p:blipFill>
          <a:blip r:embed="rId7"/>
          <a:stretch>
            <a:fillRect/>
          </a:stretch>
        </p:blipFill>
        <p:spPr>
          <a:xfrm>
            <a:off x="26654121" y="20049759"/>
            <a:ext cx="4759412" cy="2736354"/>
          </a:xfrm>
          <a:prstGeom prst="rect">
            <a:avLst/>
          </a:prstGeom>
        </p:spPr>
      </p:pic>
    </p:spTree>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{D4612B4C-5B1F-8849-8C7F-EFB6EF7B80C5}tf16401369</Template>
  <TotalTime>2701</TotalTime>
  <Words>1472</Words>
  <Application>Microsoft Office PowerPoint</Application>
  <PresentationFormat>自定义</PresentationFormat>
  <Paragraphs>45</Paragraphs>
  <Slides>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Univers LT Std 45 Light</vt:lpstr>
      <vt:lpstr>Univers LT Std 55</vt:lpstr>
      <vt:lpstr>Univers LT Std 75 Black</vt:lpstr>
      <vt:lpstr>Arial</vt:lpstr>
      <vt:lpstr>Calibri</vt:lpstr>
      <vt:lpstr>Calibri Light</vt:lpstr>
      <vt:lpstr>Rockwell</vt:lpstr>
      <vt:lpstr>Univers</vt:lpstr>
      <vt:lpstr>Wingdings</vt:lpstr>
      <vt:lpstr>Atlas</vt:lpstr>
      <vt:lpstr>PowerPoint 演示文稿</vt:lpstr>
    </vt:vector>
  </TitlesOfParts>
  <Manager/>
  <Company>University of Illinois at Urbana-Champaign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 v1</dc:title>
  <dc:subject/>
  <dc:creator>Creative Services at Public Affairs</dc:creator>
  <cp:keywords/>
  <dc:description/>
  <cp:lastModifiedBy>t76685</cp:lastModifiedBy>
  <cp:revision>167</cp:revision>
  <cp:lastPrinted>2014-09-12T17:11:51Z</cp:lastPrinted>
  <dcterms:created xsi:type="dcterms:W3CDTF">2009-06-18T18:05:32Z</dcterms:created>
  <dcterms:modified xsi:type="dcterms:W3CDTF">2025-05-07T22:24:05Z</dcterms:modified>
  <cp:category/>
</cp:coreProperties>
</file>